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99" r:id="rId23"/>
    <p:sldId id="300" r:id="rId24"/>
    <p:sldId id="301" r:id="rId25"/>
    <p:sldId id="302" r:id="rId26"/>
    <p:sldId id="303" r:id="rId27"/>
    <p:sldId id="304" r:id="rId28"/>
    <p:sldId id="305" r:id="rId29"/>
    <p:sldId id="306" r:id="rId30"/>
    <p:sldId id="307" r:id="rId31"/>
    <p:sldId id="308" r:id="rId32"/>
    <p:sldId id="309" r:id="rId33"/>
    <p:sldId id="310" r:id="rId34"/>
    <p:sldId id="311" r:id="rId35"/>
    <p:sldId id="312" r:id="rId36"/>
    <p:sldId id="313" r:id="rId37"/>
    <p:sldId id="314" r:id="rId38"/>
    <p:sldId id="315" r:id="rId39"/>
    <p:sldId id="316" r:id="rId40"/>
    <p:sldId id="317" r:id="rId41"/>
    <p:sldId id="318" r:id="rId42"/>
    <p:sldId id="319" r:id="rId43"/>
    <p:sldId id="320" r:id="rId44"/>
    <p:sldId id="321" r:id="rId45"/>
    <p:sldId id="322" r:id="rId46"/>
    <p:sldId id="323" r:id="rId47"/>
    <p:sldId id="324" r:id="rId48"/>
    <p:sldId id="325" r:id="rId49"/>
    <p:sldId id="326" r:id="rId50"/>
    <p:sldId id="327" r:id="rId51"/>
    <p:sldId id="328" r:id="rId52"/>
    <p:sldId id="297" r:id="rId53"/>
    <p:sldId id="298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167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수많은 시도,
최적의 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9476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C93C"/>
                </a:solidFill>
                <a:latin typeface="맑은 고딕"/>
                <a:ea typeface="맑은 고딕"/>
                <a:cs typeface="맑은 고딕"/>
              </a:rPr>
              <a:t>데이터셋 4개</a:t>
            </a:r>
            <a:r>
              <a:rPr sz="15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   ·   처음(계획) → 중간(시행착오) → 끝(결과)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262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TEAM PROJECT   ·   산탄데르 · 신용카드 사기 · Opinosis · Mercari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106473-C012-35A2-0708-A5799A6D3560}"/>
              </a:ext>
            </a:extLst>
          </p:cNvPr>
          <p:cNvSpPr txBox="1"/>
          <p:nvPr/>
        </p:nvSpPr>
        <p:spPr>
          <a:xfrm>
            <a:off x="604875" y="5321808"/>
            <a:ext cx="11091672" cy="241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500" b="1" i="0" dirty="0">
                <a:solidFill>
                  <a:srgbClr val="00B0F0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ko-KR" altLang="en-US" sz="1500" b="1" i="0" dirty="0">
                <a:solidFill>
                  <a:srgbClr val="00B0F0"/>
                </a:solidFill>
                <a:latin typeface="맑은 고딕"/>
                <a:ea typeface="맑은 고딕"/>
                <a:cs typeface="맑은 고딕"/>
              </a:rPr>
              <a:t>팀</a:t>
            </a:r>
            <a:r>
              <a:rPr sz="1500" b="0" i="0" dirty="0">
                <a:solidFill>
                  <a:srgbClr val="00B0F0"/>
                </a:solidFill>
                <a:latin typeface="맑은 고딕"/>
                <a:ea typeface="맑은 고딕"/>
                <a:cs typeface="맑은 고딕"/>
              </a:rPr>
              <a:t>   </a:t>
            </a:r>
            <a:r>
              <a:rPr sz="1500" b="0" i="0" dirty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·   </a:t>
            </a:r>
            <a:r>
              <a:rPr lang="ko-KR" altLang="en-US" sz="1500" b="0" i="0" dirty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이진희</a:t>
            </a:r>
            <a:r>
              <a:rPr lang="en-US" altLang="ko-KR" sz="1500" b="0" i="0" dirty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500" dirty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권용우</a:t>
            </a:r>
            <a:r>
              <a:rPr lang="en-US" altLang="ko-KR" sz="1500" dirty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500" dirty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김소현</a:t>
            </a:r>
            <a:r>
              <a:rPr lang="en-US" altLang="ko-KR" sz="1500" dirty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500" dirty="0" err="1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이혜현</a:t>
            </a:r>
            <a:r>
              <a:rPr lang="en-US" altLang="ko-KR" sz="1500" dirty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lang="ko-KR" altLang="en-US" sz="1500" dirty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 전유경</a:t>
            </a:r>
            <a:endParaRPr sz="1500" b="0" i="0" dirty="0">
              <a:solidFill>
                <a:srgbClr val="D9D6E2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80160"/>
            <a:ext cx="2103120" cy="45720"/>
          </a:xfrm>
          <a:prstGeom prst="rect">
            <a:avLst/>
          </a:prstGeom>
          <a:solidFill>
            <a:srgbClr val="FFC93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10543032" cy="822960"/>
          </a:xfrm>
          <a:prstGeom prst="rect">
            <a:avLst/>
          </a:prstGeom>
          <a:solidFill>
            <a:srgbClr val="313040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874519"/>
            <a:ext cx="67665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산탄데르 고객만족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874519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불균형 이진분류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834639"/>
            <a:ext cx="10543032" cy="822960"/>
          </a:xfrm>
          <a:prstGeom prst="rect">
            <a:avLst/>
          </a:prstGeom>
          <a:solidFill>
            <a:srgbClr val="313040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834639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834639"/>
            <a:ext cx="67665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신용카드 사기 탐지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834639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극단적 불균형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794759"/>
            <a:ext cx="10543032" cy="822960"/>
          </a:xfrm>
          <a:prstGeom prst="rect">
            <a:avLst/>
          </a:prstGeom>
          <a:solidFill>
            <a:srgbClr val="313040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794759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3794759"/>
            <a:ext cx="67665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Opinosis 리뷰 군집화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794759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비지도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754879"/>
            <a:ext cx="10543032" cy="822960"/>
          </a:xfrm>
          <a:prstGeom prst="rect">
            <a:avLst/>
          </a:prstGeom>
          <a:solidFill>
            <a:srgbClr val="313040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754879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754879"/>
            <a:ext cx="67665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Mercari 가격 예측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754879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회귀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97879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각 파트  </a:t>
            </a:r>
            <a:r>
              <a:rPr sz="13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처음(계획) → 중간(시행착오) → 끝(결과)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1 · SANTANDER  </a:t>
            </a:r>
            <a:r>
              <a:rPr sz="13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처음 ·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산탄데르 고객 만족 예측 — 불균형 이진 분류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ROC-AUC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정답을 정답, 오답을 오답으로 가려내는 능력 (1에 가까울수록 좋음)</a:t>
            </a:r>
            <a:r>
              <a:rPr sz="10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     </a:t>
            </a: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클래스 불균형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한 쪽 정답이 다른 쪽보다 압도적으로 많은 상태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Heart 23"/>
          <p:cNvSpPr/>
          <p:nvPr/>
        </p:nvSpPr>
        <p:spPr>
          <a:xfrm>
            <a:off x="1359255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1528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  <p:sp>
        <p:nvSpPr>
          <p:cNvPr id="33" name="Rectangle 4">
            <a:extLst>
              <a:ext uri="{FF2B5EF4-FFF2-40B4-BE49-F238E27FC236}">
                <a16:creationId xmlns:a16="http://schemas.microsoft.com/office/drawing/2014/main" id="{68710598-5DB4-D9FD-EEB6-B716679453D5}"/>
              </a:ext>
            </a:extLst>
          </p:cNvPr>
          <p:cNvSpPr/>
          <p:nvPr/>
        </p:nvSpPr>
        <p:spPr>
          <a:xfrm>
            <a:off x="5623560" y="1783080"/>
            <a:ext cx="5532120" cy="868680"/>
          </a:xfrm>
          <a:prstGeom prst="rect">
            <a:avLst/>
          </a:prstGeom>
          <a:solidFill>
            <a:srgbClr val="313040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8CE7AE-04B1-65C0-1802-7E1CFE662C14}"/>
              </a:ext>
            </a:extLst>
          </p:cNvPr>
          <p:cNvSpPr txBox="1"/>
          <p:nvPr/>
        </p:nvSpPr>
        <p:spPr>
          <a:xfrm>
            <a:off x="5943600" y="1965960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76,020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2FF3C12-3FFE-9CE3-5B85-9A0C5639E212}"/>
              </a:ext>
            </a:extLst>
          </p:cNvPr>
          <p:cNvSpPr txBox="1"/>
          <p:nvPr/>
        </p:nvSpPr>
        <p:spPr>
          <a:xfrm>
            <a:off x="7906253" y="2048119"/>
            <a:ext cx="2496312" cy="2964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i="0" dirty="0" err="1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학습</a:t>
            </a:r>
            <a:r>
              <a:rPr b="1" i="0" dirty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 행 수</a:t>
            </a:r>
          </a:p>
        </p:txBody>
      </p:sp>
      <p:sp>
        <p:nvSpPr>
          <p:cNvPr id="39" name="Rectangle 7">
            <a:extLst>
              <a:ext uri="{FF2B5EF4-FFF2-40B4-BE49-F238E27FC236}">
                <a16:creationId xmlns:a16="http://schemas.microsoft.com/office/drawing/2014/main" id="{A8813879-B6EF-091D-3CAC-392D54C17D1F}"/>
              </a:ext>
            </a:extLst>
          </p:cNvPr>
          <p:cNvSpPr/>
          <p:nvPr/>
        </p:nvSpPr>
        <p:spPr>
          <a:xfrm>
            <a:off x="5623560" y="2788920"/>
            <a:ext cx="5532120" cy="868680"/>
          </a:xfrm>
          <a:prstGeom prst="rect">
            <a:avLst/>
          </a:prstGeom>
          <a:solidFill>
            <a:srgbClr val="313040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0B652A-2B1C-32D5-3C62-8557DE50E5EA}"/>
              </a:ext>
            </a:extLst>
          </p:cNvPr>
          <p:cNvSpPr txBox="1"/>
          <p:nvPr/>
        </p:nvSpPr>
        <p:spPr>
          <a:xfrm>
            <a:off x="5943600" y="2971800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369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DF4113-816E-C0B4-B170-65758BEDA0DE}"/>
              </a:ext>
            </a:extLst>
          </p:cNvPr>
          <p:cNvSpPr txBox="1"/>
          <p:nvPr/>
        </p:nvSpPr>
        <p:spPr>
          <a:xfrm>
            <a:off x="7862823" y="3053959"/>
            <a:ext cx="2496312" cy="2964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i="0" dirty="0" err="1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익명</a:t>
            </a:r>
            <a:r>
              <a:rPr b="1" i="0" dirty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 </a:t>
            </a:r>
            <a:r>
              <a:rPr b="1" i="0" dirty="0" err="1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수치형</a:t>
            </a:r>
            <a:r>
              <a:rPr b="1" i="0" dirty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 </a:t>
            </a:r>
            <a:r>
              <a:rPr b="1" i="0" dirty="0" err="1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피처</a:t>
            </a:r>
            <a:endParaRPr b="1" i="0" dirty="0">
              <a:solidFill>
                <a:srgbClr val="D9D6E2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5" name="Rectangle 10">
            <a:extLst>
              <a:ext uri="{FF2B5EF4-FFF2-40B4-BE49-F238E27FC236}">
                <a16:creationId xmlns:a16="http://schemas.microsoft.com/office/drawing/2014/main" id="{FFAE52E6-32D7-328C-4B01-6565FD9AF3A2}"/>
              </a:ext>
            </a:extLst>
          </p:cNvPr>
          <p:cNvSpPr/>
          <p:nvPr/>
        </p:nvSpPr>
        <p:spPr>
          <a:xfrm>
            <a:off x="5623560" y="3794760"/>
            <a:ext cx="5532120" cy="868680"/>
          </a:xfrm>
          <a:prstGeom prst="rect">
            <a:avLst/>
          </a:prstGeom>
          <a:solidFill>
            <a:srgbClr val="313040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9BAEEB-C291-2AFD-242E-C82402806B99}"/>
              </a:ext>
            </a:extLst>
          </p:cNvPr>
          <p:cNvSpPr txBox="1"/>
          <p:nvPr/>
        </p:nvSpPr>
        <p:spPr>
          <a:xfrm>
            <a:off x="5943600" y="3977640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24.3 : 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0C65CCC-E03E-66F7-852E-E0DF36FAD42E}"/>
              </a:ext>
            </a:extLst>
          </p:cNvPr>
          <p:cNvSpPr txBox="1"/>
          <p:nvPr/>
        </p:nvSpPr>
        <p:spPr>
          <a:xfrm>
            <a:off x="7869794" y="4101220"/>
            <a:ext cx="2496312" cy="2964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i="0" dirty="0" err="1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만족</a:t>
            </a:r>
            <a:r>
              <a:rPr b="1" i="0" dirty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 : </a:t>
            </a:r>
            <a:r>
              <a:rPr b="1" i="0" dirty="0" err="1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불만족</a:t>
            </a:r>
            <a:endParaRPr b="1" i="0" dirty="0">
              <a:solidFill>
                <a:srgbClr val="D9D6E2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1780545-9364-127E-020C-341125D8647C}"/>
              </a:ext>
            </a:extLst>
          </p:cNvPr>
          <p:cNvSpPr txBox="1"/>
          <p:nvPr/>
        </p:nvSpPr>
        <p:spPr>
          <a:xfrm>
            <a:off x="548640" y="507492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계획  </a:t>
            </a:r>
            <a:r>
              <a:rPr sz="13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6개 모델을 5명이 분담해 비교  ·  정확도 대신 ROC-AUC를 기준으로</a:t>
            </a:r>
          </a:p>
        </p:txBody>
      </p:sp>
      <p:pic>
        <p:nvPicPr>
          <p:cNvPr id="53" name="Picture 31" descr="s02_donut.png">
            <a:extLst>
              <a:ext uri="{FF2B5EF4-FFF2-40B4-BE49-F238E27FC236}">
                <a16:creationId xmlns:a16="http://schemas.microsoft.com/office/drawing/2014/main" id="{180C216A-AA74-6A80-1F1E-9ED507CDA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91056"/>
            <a:ext cx="4206240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1 · SANTANDER  </a:t>
            </a:r>
            <a:r>
              <a:rPr sz="13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중간 시도 01 · 전처리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결측치 0건이라더니, −999999 위장값이 숨어 있었다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2011679"/>
            <a:ext cx="9784080" cy="1938528"/>
          </a:xfrm>
          <a:prstGeom prst="rect">
            <a:avLst/>
          </a:prstGeom>
          <a:solidFill>
            <a:srgbClr val="31304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2194559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결측치를 위장하고 있던 값 — 찾아서 치환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08760" y="2487167"/>
          <a:ext cx="9143998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7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1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5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컬럼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위장하고 있던 값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처리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var3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-999999  (116건)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최빈값 2로 치환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delta_* 26개 컬럼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9999999999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NaN → 중앙값 대체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188720" y="4206240"/>
            <a:ext cx="73152" cy="749808"/>
          </a:xfrm>
          <a:prstGeom prst="rect">
            <a:avLst/>
          </a:prstGeom>
          <a:solidFill>
            <a:srgbClr val="38BD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4169663"/>
            <a:ext cx="9692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결과 →  </a:t>
            </a:r>
            <a:r>
              <a:rPr sz="22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"0건"이라는 숫자를 그대로 믿었으면 놓칠 뻔했다.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결측치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값이 비어 있는 칸</a:t>
            </a:r>
            <a:r>
              <a:rPr sz="10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     </a:t>
            </a: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최빈값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가장 자주 나온 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Heart 11"/>
          <p:cNvSpPr/>
          <p:nvPr/>
        </p:nvSpPr>
        <p:spPr>
          <a:xfrm>
            <a:off x="1359255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1528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1 · SANTANDER  </a:t>
            </a:r>
            <a:r>
              <a:rPr sz="13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중간 시도 02 · 하이퍼파라미터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같은 방식으로 튜닝했는데 개선폭이 모델마다 크게 달랐다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801367"/>
            <a:ext cx="9784080" cy="2359152"/>
          </a:xfrm>
          <a:prstGeom prst="rect">
            <a:avLst/>
          </a:prstGeom>
          <a:solidFill>
            <a:srgbClr val="31304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1984247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2F0E8"/>
                </a:solidFill>
                <a:latin typeface="Consolas"/>
                <a:ea typeface="Consolas"/>
                <a:cs typeface="Consolas"/>
              </a:rPr>
              <a:t>결정트리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984247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6A88F"/>
                </a:solidFill>
                <a:latin typeface="Consolas"/>
                <a:ea typeface="Consolas"/>
                <a:cs typeface="Consolas"/>
              </a:rPr>
              <a:t>0.5676 → 0.8034 (+0.2358)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2276855"/>
            <a:ext cx="8961120" cy="18288"/>
          </a:xfrm>
          <a:prstGeom prst="rect">
            <a:avLst/>
          </a:prstGeom>
          <a:solidFill>
            <a:srgbClr val="3E3D4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28906" y="2267711"/>
            <a:ext cx="7043440" cy="36576"/>
          </a:xfrm>
          <a:prstGeom prst="rect">
            <a:avLst/>
          </a:prstGeom>
          <a:solidFill>
            <a:srgbClr val="26A88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087758" y="2235707"/>
            <a:ext cx="82296" cy="82296"/>
          </a:xfrm>
          <a:prstGeom prst="ellipse">
            <a:avLst/>
          </a:prstGeom>
          <a:solidFill>
            <a:srgbClr val="D9D6E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17482" y="2221991"/>
            <a:ext cx="109728" cy="109728"/>
          </a:xfrm>
          <a:prstGeom prst="ellipse">
            <a:avLst/>
          </a:prstGeom>
          <a:solidFill>
            <a:srgbClr val="26A88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08760" y="2478023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2F0E8"/>
                </a:solidFill>
                <a:latin typeface="Consolas"/>
                <a:ea typeface="Consolas"/>
                <a:cs typeface="Consolas"/>
              </a:rPr>
              <a:t>랜덤포레스트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478023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6A88F"/>
                </a:solidFill>
                <a:latin typeface="Consolas"/>
                <a:ea typeface="Consolas"/>
                <a:cs typeface="Consolas"/>
              </a:rPr>
              <a:t>0.7800 → 0.8231 (+0.0431)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2770631"/>
            <a:ext cx="8961120" cy="18288"/>
          </a:xfrm>
          <a:prstGeom prst="rect">
            <a:avLst/>
          </a:prstGeom>
          <a:solidFill>
            <a:srgbClr val="3E3D4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73379" y="2761487"/>
            <a:ext cx="1281440" cy="36576"/>
          </a:xfrm>
          <a:prstGeom prst="rect">
            <a:avLst/>
          </a:prstGeom>
          <a:solidFill>
            <a:srgbClr val="26A88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32231" y="2729483"/>
            <a:ext cx="82296" cy="82296"/>
          </a:xfrm>
          <a:prstGeom prst="ellipse">
            <a:avLst/>
          </a:prstGeom>
          <a:solidFill>
            <a:srgbClr val="D9D6E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699955" y="2715767"/>
            <a:ext cx="109728" cy="109728"/>
          </a:xfrm>
          <a:prstGeom prst="ellipse">
            <a:avLst/>
          </a:prstGeom>
          <a:solidFill>
            <a:srgbClr val="26A88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08760" y="2971799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2F0E8"/>
                </a:solidFill>
                <a:latin typeface="Consolas"/>
                <a:ea typeface="Consolas"/>
                <a:cs typeface="Consolas"/>
              </a:rPr>
              <a:t>LightGBM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971799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6A88F"/>
                </a:solidFill>
                <a:latin typeface="Consolas"/>
                <a:ea typeface="Consolas"/>
                <a:cs typeface="Consolas"/>
              </a:rPr>
              <a:t>0.8011 → 0.8253 (+0.0242)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3264407"/>
            <a:ext cx="8961120" cy="18288"/>
          </a:xfrm>
          <a:prstGeom prst="rect">
            <a:avLst/>
          </a:prstGeom>
          <a:solidFill>
            <a:srgbClr val="3E3D4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00657" y="3255263"/>
            <a:ext cx="725850" cy="36576"/>
          </a:xfrm>
          <a:prstGeom prst="rect">
            <a:avLst/>
          </a:prstGeom>
          <a:solidFill>
            <a:srgbClr val="26A88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059509" y="3223259"/>
            <a:ext cx="82296" cy="82296"/>
          </a:xfrm>
          <a:prstGeom prst="ellipse">
            <a:avLst/>
          </a:prstGeom>
          <a:solidFill>
            <a:srgbClr val="D9D6E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771644" y="3209543"/>
            <a:ext cx="109728" cy="109728"/>
          </a:xfrm>
          <a:prstGeom prst="ellipse">
            <a:avLst/>
          </a:prstGeom>
          <a:solidFill>
            <a:srgbClr val="26A88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08760" y="3465575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2F0E8"/>
                </a:solidFill>
                <a:latin typeface="Consolas"/>
                <a:ea typeface="Consolas"/>
                <a:cs typeface="Consolas"/>
              </a:rPr>
              <a:t>GBM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465575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6A88F"/>
                </a:solidFill>
                <a:latin typeface="Consolas"/>
                <a:ea typeface="Consolas"/>
                <a:cs typeface="Consolas"/>
              </a:rPr>
              <a:t>0.8198 → 0.8256 (+0.0058)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3758183"/>
            <a:ext cx="8961120" cy="18288"/>
          </a:xfrm>
          <a:prstGeom prst="rect">
            <a:avLst/>
          </a:prstGeom>
          <a:solidFill>
            <a:srgbClr val="3E3D4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56246" y="3749039"/>
            <a:ext cx="179222" cy="36576"/>
          </a:xfrm>
          <a:prstGeom prst="rect">
            <a:avLst/>
          </a:prstGeom>
          <a:solidFill>
            <a:srgbClr val="26A88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615098" y="3717035"/>
            <a:ext cx="82296" cy="82296"/>
          </a:xfrm>
          <a:prstGeom prst="ellipse">
            <a:avLst/>
          </a:prstGeom>
          <a:solidFill>
            <a:srgbClr val="D9D6E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780605" y="3703319"/>
            <a:ext cx="109728" cy="109728"/>
          </a:xfrm>
          <a:prstGeom prst="ellipse">
            <a:avLst/>
          </a:prstGeom>
          <a:solidFill>
            <a:srgbClr val="26A88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188720" y="4416552"/>
            <a:ext cx="73152" cy="749808"/>
          </a:xfrm>
          <a:prstGeom prst="rect">
            <a:avLst/>
          </a:prstGeom>
          <a:solidFill>
            <a:srgbClr val="38BD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463040" y="4379976"/>
            <a:ext cx="9692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결과 →  </a:t>
            </a:r>
            <a:r>
              <a:rPr sz="22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기본기가 부족한 모델일수록 튜닝의 힘이 크게 작용했다.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Hyperopt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좋은 하이퍼파라미터를 확률적으로 빠르게 찾는 탐색법</a:t>
            </a:r>
            <a:r>
              <a:rPr sz="10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     </a:t>
            </a: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하이퍼파라미터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학습 전에 사람이 정해주는 모델 설정값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Heart 33"/>
          <p:cNvSpPr/>
          <p:nvPr/>
        </p:nvSpPr>
        <p:spPr>
          <a:xfrm>
            <a:off x="1359255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61528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1 · SANTANDER  </a:t>
            </a:r>
            <a:r>
              <a:rPr sz="13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중간 시도 03 · 하이퍼파라미터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검증 점수만 보고 판단 → 실제 테스트 점수는 하락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600200"/>
            <a:ext cx="9784080" cy="2706624"/>
          </a:xfrm>
          <a:prstGeom prst="rect">
            <a:avLst/>
          </a:prstGeom>
          <a:solidFill>
            <a:srgbClr val="31304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178308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랜덤포레스트 5단계 튜닝 — 테스트 점수 추적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08760" y="2075688"/>
          <a:ext cx="9143999" cy="2029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2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5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5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단계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메모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테스트 ROC-AUC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① 기본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규제 없음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0.7526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② 1차 탐색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 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0.8143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③ 2차 탐색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검증 0.8455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0.8225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④ 확장 탐색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검증 0.8464 ↑  ·  테스트 ↓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0.8197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3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⑤ 재설계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최종 채택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0.8231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188720" y="4562856"/>
            <a:ext cx="73152" cy="749808"/>
          </a:xfrm>
          <a:prstGeom prst="rect">
            <a:avLst/>
          </a:prstGeom>
          <a:solidFill>
            <a:srgbClr val="38BD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4526280"/>
            <a:ext cx="9692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결과 →  </a:t>
            </a:r>
            <a:r>
              <a:rPr sz="22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검증 점수판 숫자가 오른다고, 진짜로 나아졌다는 뜻은 아니었다.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검증(CV) 점수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학습 중 성능을 가늠하려 떼어둔 데이터로 낸 점수</a:t>
            </a:r>
            <a:r>
              <a:rPr sz="10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     </a:t>
            </a: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테스트 점수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한 번도 안 쓴 데이터로 낸 최종 점수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Heart 11"/>
          <p:cNvSpPr/>
          <p:nvPr/>
        </p:nvSpPr>
        <p:spPr>
          <a:xfrm>
            <a:off x="1359255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1528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1 · SANTANDER  </a:t>
            </a:r>
            <a:r>
              <a:rPr sz="13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중간 시도 04 · 전처리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중요도 0 피처 제거량이 모델마다 −25~−70%로 갈렸다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837943"/>
            <a:ext cx="9784080" cy="2286000"/>
          </a:xfrm>
          <a:prstGeom prst="rect">
            <a:avLst/>
          </a:prstGeom>
          <a:solidFill>
            <a:srgbClr val="31304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2020823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중요도 0 피처 가지치기 — 모델마다 제거량이 달랐다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08760" y="2313431"/>
          <a:ext cx="914400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모델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피처 수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제거 비율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XGBoost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375 → 111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−70.4%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GBM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305 → 95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−68.9%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랜덤포레스트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294 → 219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−25.5%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188720" y="4379976"/>
            <a:ext cx="73152" cy="749808"/>
          </a:xfrm>
          <a:prstGeom prst="rect">
            <a:avLst/>
          </a:prstGeom>
          <a:solidFill>
            <a:srgbClr val="38BD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4343400"/>
            <a:ext cx="9692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결과 →  </a:t>
            </a:r>
            <a:r>
              <a:rPr sz="22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같은 데이터를 보고도, 모델마다 "쓸모없다"고 판단한 기준이 달랐다.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피처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모델이 입력으로 쓰는 변수(칸)</a:t>
            </a:r>
            <a:r>
              <a:rPr sz="10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     </a:t>
            </a: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피처 중요도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그 피처가 예측에 얼마나 기여했는지 점수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Heart 11"/>
          <p:cNvSpPr/>
          <p:nvPr/>
        </p:nvSpPr>
        <p:spPr>
          <a:xfrm>
            <a:off x="1359255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1528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1 · SANTANDER  </a:t>
            </a:r>
            <a:r>
              <a:rPr sz="13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중간 시도 05 · 하이퍼파라미터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전수 탐색 vs 똑똑한 탐색 — GridSearch가 근소 우세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600200"/>
            <a:ext cx="9784080" cy="1938528"/>
          </a:xfrm>
          <a:prstGeom prst="rect">
            <a:avLst/>
          </a:prstGeom>
          <a:solidFill>
            <a:srgbClr val="31304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178308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LightGBM — 완전 탐색 vs 똑똑한 탐색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08760" y="2075688"/>
          <a:ext cx="9143999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8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1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35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탐색 방법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CV 점수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테스트 점수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GridSearchCV (729조합)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0.8394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0.8253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Hyperopt (100회)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0.8382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0.8239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188720" y="3794760"/>
            <a:ext cx="73152" cy="749808"/>
          </a:xfrm>
          <a:prstGeom prst="rect">
            <a:avLst/>
          </a:prstGeom>
          <a:solidFill>
            <a:srgbClr val="38BD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3885453"/>
            <a:ext cx="9692640" cy="614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 i="0" dirty="0" err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결과</a:t>
            </a:r>
            <a:r>
              <a:rPr sz="1500" b="1" i="0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 →  </a:t>
            </a:r>
            <a:endParaRPr lang="en-US" sz="1500" b="1" i="0" dirty="0">
              <a:solidFill>
                <a:srgbClr val="38BDF8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14000"/>
              </a:lnSpc>
            </a:pPr>
            <a:r>
              <a:rPr sz="22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탐색을</a:t>
            </a:r>
            <a:r>
              <a:rPr sz="22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영리하게</a:t>
            </a:r>
            <a:r>
              <a:rPr sz="22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하는</a:t>
            </a:r>
            <a:r>
              <a:rPr sz="22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것보다</a:t>
            </a:r>
            <a:r>
              <a:rPr sz="22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22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얼마나</a:t>
            </a:r>
            <a:r>
              <a:rPr sz="22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넓게</a:t>
            </a:r>
            <a:r>
              <a:rPr sz="22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훑는지가</a:t>
            </a:r>
            <a:r>
              <a:rPr sz="22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더 </a:t>
            </a:r>
            <a:r>
              <a:rPr sz="22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중요할</a:t>
            </a:r>
            <a:r>
              <a:rPr sz="22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때도</a:t>
            </a:r>
            <a:r>
              <a:rPr sz="22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있었다</a:t>
            </a:r>
            <a:r>
              <a:rPr sz="22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690872"/>
            <a:ext cx="9692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그래서 —  </a:t>
            </a:r>
            <a:r>
              <a:rPr sz="11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튜닝은 GridSearchCV로 시작하고, 시간이 급할 때만 Hyperopt를 보조로.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GridSearchCV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가능한 하이퍼파라미터 조합을 전부 시험하는 완전 탐색</a:t>
            </a:r>
            <a:r>
              <a:rPr sz="10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     </a:t>
            </a: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729조합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3^6 — 6개 값을 3단계씩 격자로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Heart 12"/>
          <p:cNvSpPr/>
          <p:nvPr/>
        </p:nvSpPr>
        <p:spPr>
          <a:xfrm>
            <a:off x="1359255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1528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1 · SANTANDER  </a:t>
            </a:r>
            <a:r>
              <a:rPr sz="13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중간 시도 06 · 하이퍼파라미터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소수 클래스 가중치를 강제로 키웠더니 ROC-AUC 하락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600200"/>
            <a:ext cx="9784080" cy="1993392"/>
          </a:xfrm>
          <a:prstGeom prst="rect">
            <a:avLst/>
          </a:prstGeom>
          <a:solidFill>
            <a:srgbClr val="31304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178308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class_weight='balanced' 적용 전후 — 랜덤포레스트 ROC-AUC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08760" y="2075688"/>
          <a:ext cx="9143999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6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7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구분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ROC-AUC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적용 전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0.8006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적용 후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0.7954  (−0.0052)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188720" y="3849624"/>
            <a:ext cx="73152" cy="749808"/>
          </a:xfrm>
          <a:prstGeom prst="rect">
            <a:avLst/>
          </a:prstGeom>
          <a:solidFill>
            <a:srgbClr val="38BD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3813048"/>
            <a:ext cx="9692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결과 →  </a:t>
            </a:r>
            <a:r>
              <a:rPr sz="22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불균형을 손보는 게 늘 도움이 되는 건 아니었다.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745736"/>
            <a:ext cx="9692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그래서 —  </a:t>
            </a:r>
            <a:r>
              <a:rPr sz="11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class_weight는 기본값 유지, 필요해 보일 때만 검증셋으로 먼저 확인 후 적용.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dirty="0" err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class_weight</a:t>
            </a:r>
            <a:r>
              <a:rPr sz="1000" b="1" i="0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='balanced' </a:t>
            </a:r>
            <a:r>
              <a:rPr sz="1000" b="0" i="0" dirty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</a:t>
            </a:r>
            <a:r>
              <a:rPr sz="1000" b="0" i="0" dirty="0" err="1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적은</a:t>
            </a:r>
            <a:r>
              <a:rPr sz="1000" b="0" i="0" dirty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 쪽 </a:t>
            </a:r>
            <a:r>
              <a:rPr sz="1000" b="0" i="0" dirty="0" err="1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클래스의</a:t>
            </a:r>
            <a:r>
              <a:rPr sz="1000" b="0" i="0" dirty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i="0" dirty="0" err="1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오답에</a:t>
            </a:r>
            <a:r>
              <a:rPr sz="1000" b="0" i="0" dirty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i="0" dirty="0" err="1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벌점을</a:t>
            </a:r>
            <a:r>
              <a:rPr sz="1000" b="0" i="0" dirty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 더 </a:t>
            </a:r>
            <a:r>
              <a:rPr sz="1000" b="0" i="0" dirty="0" err="1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크게</a:t>
            </a:r>
            <a:r>
              <a:rPr sz="1000" b="0" i="0" dirty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i="0" dirty="0" err="1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주는</a:t>
            </a:r>
            <a:r>
              <a:rPr sz="1000" b="0" i="0" dirty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i="0" dirty="0" err="1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옵션</a:t>
            </a:r>
            <a:endParaRPr sz="1000" b="0" i="0" dirty="0">
              <a:solidFill>
                <a:srgbClr val="D9D6E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Heart 12"/>
          <p:cNvSpPr/>
          <p:nvPr/>
        </p:nvSpPr>
        <p:spPr>
          <a:xfrm>
            <a:off x="1359255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1528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2140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1 · SANTANDER  </a:t>
            </a:r>
            <a:r>
              <a:rPr sz="1300" b="0" i="0" dirty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63624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dirty="0" err="1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공통</a:t>
            </a:r>
            <a:r>
              <a:rPr sz="1100" b="1" i="0" dirty="0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1" i="0" dirty="0" err="1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단계</a:t>
            </a:r>
            <a:r>
              <a:rPr sz="1100" b="1" i="0" dirty="0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50" b="0" i="0" dirty="0" err="1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공용</a:t>
            </a:r>
            <a:r>
              <a:rPr sz="1050" b="0" i="0" dirty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 i="0" dirty="0" err="1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함수</a:t>
            </a:r>
            <a:r>
              <a:rPr sz="1050" b="0" i="0" dirty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 i="0" dirty="0" err="1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정리</a:t>
            </a:r>
            <a:r>
              <a:rPr sz="1050" b="0" i="0" dirty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 (</a:t>
            </a:r>
            <a:r>
              <a:rPr sz="1050" b="0" i="0" dirty="0" err="1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이상치·파생변수·분할·PCA·Hyperopt</a:t>
            </a:r>
            <a:r>
              <a:rPr sz="1050" b="0" i="0" dirty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)   →   </a:t>
            </a:r>
            <a:r>
              <a:rPr sz="1050" b="0" i="0" dirty="0" err="1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전처리</a:t>
            </a:r>
            <a:r>
              <a:rPr sz="1050" b="0" i="0" dirty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 i="0" dirty="0" err="1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갈래</a:t>
            </a:r>
            <a:r>
              <a:rPr sz="1050" b="0" i="0" dirty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 i="0" dirty="0" err="1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분기</a:t>
            </a:r>
            <a:r>
              <a:rPr sz="1050" b="0" i="0" dirty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   →   </a:t>
            </a:r>
            <a:r>
              <a:rPr sz="1050" b="0" i="0" dirty="0" err="1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모델별</a:t>
            </a:r>
            <a:r>
              <a:rPr sz="1050" b="0" i="0" dirty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 i="0" dirty="0" err="1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튜닝</a:t>
            </a:r>
            <a:endParaRPr sz="1050" b="0" i="0" dirty="0">
              <a:solidFill>
                <a:srgbClr val="D9D6E2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0160" y="2057400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모델별 담당 전략과 결과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80160" y="2350008"/>
          <a:ext cx="9601198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1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모델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튜닝 · 전략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결과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XGBoost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중요도 0 가지치기 → Hyperopt 200회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0.8254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GBM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Hyperopt 30회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0.8247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LightGBM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2단계 튜닝 → PCA 재적용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0.8260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Decision Tree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RandomizedSearchCV 100회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0.8034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Random Forest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refit=False로 수정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0.8231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Logistic Regression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WOE 인코딩 → 그리드 탐색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0.8083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PCA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여러 피처를 정보 손실 최소로 몇 개 축으로 압축하는 기법</a:t>
            </a:r>
            <a:r>
              <a:rPr sz="10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     </a:t>
            </a: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WOE 인코딩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범주값을 'good/bad 비율의 로그'로 바꿔 로지스틱 회귀에 맞추는 방법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rt 9"/>
          <p:cNvSpPr/>
          <p:nvPr/>
        </p:nvSpPr>
        <p:spPr>
          <a:xfrm>
            <a:off x="1359255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1528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A6C4C5-0A1B-B9AA-FD59-57B132CBADF3}"/>
              </a:ext>
            </a:extLst>
          </p:cNvPr>
          <p:cNvSpPr txBox="1"/>
          <p:nvPr/>
        </p:nvSpPr>
        <p:spPr>
          <a:xfrm>
            <a:off x="660508" y="746390"/>
            <a:ext cx="1109167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7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중복 코드는 공용함수로</a:t>
            </a:r>
            <a:r>
              <a:rPr lang="en-US" altLang="ko-KR" sz="27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lang="ko-KR" altLang="en-US" sz="27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모델 별 </a:t>
            </a:r>
            <a:r>
              <a:rPr lang="ko-KR" altLang="en-US" sz="2700" b="1" i="0" dirty="0">
                <a:solidFill>
                  <a:srgbClr val="FFFF00"/>
                </a:solidFill>
                <a:latin typeface="맑은 고딕"/>
                <a:ea typeface="맑은 고딕"/>
                <a:cs typeface="맑은 고딕"/>
              </a:rPr>
              <a:t>최적 전략</a:t>
            </a:r>
            <a:r>
              <a:rPr lang="ko-KR" altLang="en-US" sz="27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만 추출</a:t>
            </a:r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1 · SANTANDER  · 끝 ·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LightGBM · ROC-AUC 0.8260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부스팅 3종 + 랜덤포레스트는 0.82대에서 사실상 동률 (차이 0.001 안팎)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920240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모델별 최종 테스트 ROC-AUC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80160" y="2212848"/>
          <a:ext cx="9601199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0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0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0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모델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튜닝 · 파라미터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ROC-AUC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LightGBM</a:t>
                      </a:r>
                    </a:p>
                  </a:txBody>
                  <a:tcPr marL="88900" marR="88900" marT="38100" marB="38100" anchor="ctr">
                    <a:solidFill>
                      <a:srgbClr val="4A40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2단계 튜닝 → PCA 재적용</a:t>
                      </a:r>
                    </a:p>
                  </a:txBody>
                  <a:tcPr marL="88900" marR="88900" marT="38100" marB="38100" anchor="ctr">
                    <a:solidFill>
                      <a:srgbClr val="4A40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0.8260</a:t>
                      </a:r>
                    </a:p>
                  </a:txBody>
                  <a:tcPr marL="88900" marR="88900" marT="38100" marB="38100" anchor="ctr">
                    <a:solidFill>
                      <a:srgbClr val="4A40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XGBoost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중요도 0 피처 가지치기 → Hyperopt 200회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0.8254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GBM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Hyperopt 30회 탐색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0.8247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랜덤포레스트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refit 수정 → 5단계 재설계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0.8231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로지스틱 회귀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WOE 인코딩 → 그리드 탐색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0.8083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결정트리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RandomizedSearchCV 100회 탐색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0.8034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과적합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학습 데이터에만 너무 맞춰져 새 데이터에서 성능이 떨어지는 상태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rt 9"/>
          <p:cNvSpPr/>
          <p:nvPr/>
        </p:nvSpPr>
        <p:spPr>
          <a:xfrm>
            <a:off x="1359255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1528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2 · CREDIT CARD  </a:t>
            </a:r>
            <a:r>
              <a:rPr sz="13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처음 ·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신용카드 사기 탐지 — 극단적 불균형 이진 분류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03520"/>
            <a:ext cx="106619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계획  </a:t>
            </a:r>
            <a:r>
              <a:rPr sz="13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5명이 분담 (CatBoost·LightGBM·XGBoost·로지스틱 2종)  ·  PR-AUC·F1로 판단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PR-AUC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소수 정답(사기)을 놓치지 않고 정확히 잡는 능력 (불균형에 적합)</a:t>
            </a:r>
            <a:r>
              <a:rPr sz="10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     </a:t>
            </a: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F1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정밀도와 재현율의 조화평균 — 둘 다 좋아야 높다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Heart 25"/>
          <p:cNvSpPr/>
          <p:nvPr/>
        </p:nvSpPr>
        <p:spPr>
          <a:xfrm>
            <a:off x="3800703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5673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  <p:sp>
        <p:nvSpPr>
          <p:cNvPr id="33" name="Rectangle 4">
            <a:extLst>
              <a:ext uri="{FF2B5EF4-FFF2-40B4-BE49-F238E27FC236}">
                <a16:creationId xmlns:a16="http://schemas.microsoft.com/office/drawing/2014/main" id="{454E5A6F-D371-5D9F-15C0-A9CFC4159B6C}"/>
              </a:ext>
            </a:extLst>
          </p:cNvPr>
          <p:cNvSpPr/>
          <p:nvPr/>
        </p:nvSpPr>
        <p:spPr>
          <a:xfrm>
            <a:off x="5623560" y="1783080"/>
            <a:ext cx="5532120" cy="868680"/>
          </a:xfrm>
          <a:prstGeom prst="rect">
            <a:avLst/>
          </a:prstGeom>
          <a:solidFill>
            <a:srgbClr val="313040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242930-0C22-9128-B0C0-D717F3D7183A}"/>
              </a:ext>
            </a:extLst>
          </p:cNvPr>
          <p:cNvSpPr txBox="1"/>
          <p:nvPr/>
        </p:nvSpPr>
        <p:spPr>
          <a:xfrm>
            <a:off x="5943600" y="1965960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284,807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1B6C2B-86DB-2905-8503-B150D6FFE890}"/>
              </a:ext>
            </a:extLst>
          </p:cNvPr>
          <p:cNvSpPr txBox="1"/>
          <p:nvPr/>
        </p:nvSpPr>
        <p:spPr>
          <a:xfrm>
            <a:off x="8138160" y="2103120"/>
            <a:ext cx="24963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전체 거래</a:t>
            </a:r>
          </a:p>
        </p:txBody>
      </p:sp>
      <p:sp>
        <p:nvSpPr>
          <p:cNvPr id="39" name="Rectangle 7">
            <a:extLst>
              <a:ext uri="{FF2B5EF4-FFF2-40B4-BE49-F238E27FC236}">
                <a16:creationId xmlns:a16="http://schemas.microsoft.com/office/drawing/2014/main" id="{0BA2DCD1-2F6B-3644-1A45-41AA7DD0AE78}"/>
              </a:ext>
            </a:extLst>
          </p:cNvPr>
          <p:cNvSpPr/>
          <p:nvPr/>
        </p:nvSpPr>
        <p:spPr>
          <a:xfrm>
            <a:off x="5623560" y="2788920"/>
            <a:ext cx="5532120" cy="868680"/>
          </a:xfrm>
          <a:prstGeom prst="rect">
            <a:avLst/>
          </a:prstGeom>
          <a:solidFill>
            <a:srgbClr val="313040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EE41AE-7161-D3C3-A8C0-B7FE62D5D40B}"/>
              </a:ext>
            </a:extLst>
          </p:cNvPr>
          <p:cNvSpPr txBox="1"/>
          <p:nvPr/>
        </p:nvSpPr>
        <p:spPr>
          <a:xfrm>
            <a:off x="5943600" y="2971800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578 : 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F8F68B4-FC01-A9EB-7371-7E80E7F8092D}"/>
              </a:ext>
            </a:extLst>
          </p:cNvPr>
          <p:cNvSpPr txBox="1"/>
          <p:nvPr/>
        </p:nvSpPr>
        <p:spPr>
          <a:xfrm>
            <a:off x="8138160" y="3108960"/>
            <a:ext cx="24963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정상 : 사기</a:t>
            </a:r>
          </a:p>
        </p:txBody>
      </p:sp>
      <p:sp>
        <p:nvSpPr>
          <p:cNvPr id="45" name="Rectangle 10">
            <a:extLst>
              <a:ext uri="{FF2B5EF4-FFF2-40B4-BE49-F238E27FC236}">
                <a16:creationId xmlns:a16="http://schemas.microsoft.com/office/drawing/2014/main" id="{F4E03FA6-60AD-484E-AB55-F505B4B33D4C}"/>
              </a:ext>
            </a:extLst>
          </p:cNvPr>
          <p:cNvSpPr/>
          <p:nvPr/>
        </p:nvSpPr>
        <p:spPr>
          <a:xfrm>
            <a:off x="5623560" y="3794760"/>
            <a:ext cx="5532120" cy="868680"/>
          </a:xfrm>
          <a:prstGeom prst="rect">
            <a:avLst/>
          </a:prstGeom>
          <a:solidFill>
            <a:srgbClr val="313040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D1BE5A-04F4-D940-5F14-5FEBE9AA3A52}"/>
              </a:ext>
            </a:extLst>
          </p:cNvPr>
          <p:cNvSpPr txBox="1"/>
          <p:nvPr/>
        </p:nvSpPr>
        <p:spPr>
          <a:xfrm>
            <a:off x="5943600" y="3977640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0.173%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F9B023-C73E-8A94-D5F1-A48D655A31B7}"/>
              </a:ext>
            </a:extLst>
          </p:cNvPr>
          <p:cNvSpPr txBox="1"/>
          <p:nvPr/>
        </p:nvSpPr>
        <p:spPr>
          <a:xfrm>
            <a:off x="8138160" y="4114800"/>
            <a:ext cx="24963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사기 비율</a:t>
            </a:r>
          </a:p>
        </p:txBody>
      </p:sp>
      <p:pic>
        <p:nvPicPr>
          <p:cNvPr id="51" name="Picture 31" descr="s11_donut.png">
            <a:extLst>
              <a:ext uri="{FF2B5EF4-FFF2-40B4-BE49-F238E27FC236}">
                <a16:creationId xmlns:a16="http://schemas.microsoft.com/office/drawing/2014/main" id="{0B5EB81B-8637-CF0D-9483-E6396CBAA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91056"/>
            <a:ext cx="4206240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2 · CREDIT CARD  </a:t>
            </a:r>
            <a:r>
              <a:rPr sz="13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중간 시도 01 · 전처리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ROC-AUC 0.9916, </a:t>
            </a:r>
            <a:r>
              <a:rPr sz="27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너무</a:t>
            </a:r>
            <a:r>
              <a:rPr sz="27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7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높았던</a:t>
            </a:r>
            <a:r>
              <a:rPr sz="27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7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이유는</a:t>
            </a:r>
            <a:r>
              <a:rPr sz="27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7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27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7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누수였다</a:t>
            </a:r>
            <a:endParaRPr sz="2700" b="1" i="0" dirty="0">
              <a:solidFill>
                <a:srgbClr val="F2F0E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88720" y="2011679"/>
            <a:ext cx="9784080" cy="1938528"/>
          </a:xfrm>
          <a:prstGeom prst="rect">
            <a:avLst/>
          </a:prstGeom>
          <a:solidFill>
            <a:srgbClr val="31304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2194559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데이터 누수 발견 전후 — XGBoost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523289"/>
              </p:ext>
            </p:extLst>
          </p:nvPr>
        </p:nvGraphicFramePr>
        <p:xfrm>
          <a:off x="1508760" y="2487167"/>
          <a:ext cx="9143998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0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구분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Train</a:t>
                      </a:r>
                      <a:r>
                        <a:rPr lang="ko-KR" altLang="en-US" sz="1300" b="1" dirty="0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lang="en-US" altLang="ko-KR" sz="1300" b="1" dirty="0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/</a:t>
                      </a:r>
                      <a:r>
                        <a:rPr lang="ko-KR" altLang="en-US" sz="1300" b="1" dirty="0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lang="en-US" altLang="ko-KR" sz="1300" b="1" dirty="0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test </a:t>
                      </a:r>
                      <a:r>
                        <a:rPr lang="ko-KR" altLang="en-US" sz="1300" b="1" dirty="0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이전 전처리여부</a:t>
                      </a:r>
                      <a:endParaRPr sz="1300" b="1" dirty="0">
                        <a:solidFill>
                          <a:srgbClr val="D9D6E2"/>
                        </a:solidFill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ROC-AUC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누수 상태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50" b="0" dirty="0" err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스케일러</a:t>
                      </a:r>
                      <a:r>
                        <a:rPr lang="ko-KR" altLang="en-US" sz="1350" b="0" dirty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lang="en-US" altLang="ko-KR" sz="1350" b="0" dirty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fit, </a:t>
                      </a:r>
                      <a:r>
                        <a:rPr lang="ko-KR" altLang="en-US" sz="1350" b="0" dirty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이상치 기준 계산</a:t>
                      </a:r>
                      <a:endParaRPr sz="1350" b="0" dirty="0">
                        <a:solidFill>
                          <a:srgbClr val="F2F0E8"/>
                        </a:solidFill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0.9916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재구성 후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50" b="0" dirty="0" err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스케일러</a:t>
                      </a:r>
                      <a:r>
                        <a:rPr lang="ko-KR" altLang="en-US" sz="1350" b="0" dirty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lang="en-US" altLang="ko-KR" sz="1350" b="0" dirty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fit</a:t>
                      </a:r>
                      <a:r>
                        <a:rPr lang="ko-KR" altLang="en-US" sz="1350" b="0" dirty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을 </a:t>
                      </a:r>
                      <a:r>
                        <a:rPr lang="en-US" altLang="ko-KR" sz="1350" b="0" dirty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train</a:t>
                      </a:r>
                      <a:r>
                        <a:rPr lang="ko-KR" altLang="en-US" sz="1350" b="0" dirty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에</a:t>
                      </a:r>
                      <a:r>
                        <a:rPr lang="en-US" altLang="ko-KR" sz="1350" b="0" dirty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, test</a:t>
                      </a:r>
                      <a:r>
                        <a:rPr lang="ko-KR" altLang="en-US" sz="1350" b="0" dirty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는 별도 구분</a:t>
                      </a:r>
                      <a:r>
                        <a:rPr lang="en-US" altLang="ko-KR" sz="1350" b="0" dirty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.</a:t>
                      </a:r>
                      <a:endParaRPr sz="1350" b="0" dirty="0">
                        <a:solidFill>
                          <a:srgbClr val="F2F0E8"/>
                        </a:solidFill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0.9773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188720" y="4206240"/>
            <a:ext cx="73152" cy="749808"/>
          </a:xfrm>
          <a:prstGeom prst="rect">
            <a:avLst/>
          </a:prstGeom>
          <a:solidFill>
            <a:srgbClr val="38BD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4169663"/>
            <a:ext cx="9692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결과 →  </a:t>
            </a:r>
            <a:r>
              <a:rPr sz="22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점수가 너무 잘 나올 땐, 축하하기 전에 먼저 의심해야 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데이터 누수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테스트 정보가 학습에 새어 들어가 점수가 부풀려지는 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Heart 13"/>
          <p:cNvSpPr/>
          <p:nvPr/>
        </p:nvSpPr>
        <p:spPr>
          <a:xfrm>
            <a:off x="3800703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5673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2 · CREDIT CARD  </a:t>
            </a:r>
            <a:r>
              <a:rPr sz="13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중간 시도 02 · 하이퍼파라미터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재현율을 끝까지 올렸더니 정밀도가 무너졌다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600200"/>
            <a:ext cx="9784080" cy="3127248"/>
          </a:xfrm>
          <a:prstGeom prst="rect">
            <a:avLst/>
          </a:prstGeom>
          <a:solidFill>
            <a:srgbClr val="31304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혼동행렬_비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320" y="1783080"/>
            <a:ext cx="5358878" cy="2743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88720" y="4983480"/>
            <a:ext cx="73152" cy="749808"/>
          </a:xfrm>
          <a:prstGeom prst="rect">
            <a:avLst/>
          </a:prstGeom>
          <a:solidFill>
            <a:srgbClr val="38BD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4946904"/>
            <a:ext cx="9692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결과 →  </a:t>
            </a:r>
            <a:r>
              <a:rPr sz="22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재현율만 끌어올리면 정밀도는 그만큼 무너진다 — 둘은 시소 관계.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재현율 recall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실제 사기 중 몇 %를 잡아냈나 — 놓치지 않는 능력</a:t>
            </a:r>
            <a:r>
              <a:rPr sz="10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     </a:t>
            </a: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정밀도 precision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사기라고 판정한 것 중 진짜 사기 비율 — 헛발질 안 하는 능력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Heart 12"/>
          <p:cNvSpPr/>
          <p:nvPr/>
        </p:nvSpPr>
        <p:spPr>
          <a:xfrm>
            <a:off x="3800703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5673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2 · CREDIT CARD  </a:t>
            </a:r>
            <a:r>
              <a:rPr sz="13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중간 시도 03 · 모델 선정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CatBoost가 놓친 12건, 이상탐지로도 0건 더 잡았다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988819"/>
            <a:ext cx="9784080" cy="1984248"/>
          </a:xfrm>
          <a:prstGeom prst="rect">
            <a:avLst/>
          </a:prstGeom>
          <a:solidFill>
            <a:srgbClr val="31304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2171699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CatBoost가 끝까지 놓친 사기 (FN)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464307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12건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19" y="2171699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이상탐지 3종을 다 더해 추가로 잡은 건수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19" y="2464307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0건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314699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29개 숫자 피처만으로는 </a:t>
            </a:r>
            <a:r>
              <a:rPr sz="1400" b="1" i="0">
                <a:solidFill>
                  <a:srgbClr val="FFC93C"/>
                </a:solidFill>
                <a:latin typeface="맑은 고딕"/>
                <a:ea typeface="맑은 고딕"/>
                <a:cs typeface="맑은 고딕"/>
              </a:rPr>
              <a:t>이 12건을 분리할 수 없다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4229100"/>
            <a:ext cx="73152" cy="749808"/>
          </a:xfrm>
          <a:prstGeom prst="rect">
            <a:avLst/>
          </a:prstGeom>
          <a:solidFill>
            <a:srgbClr val="38BD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40" y="4192524"/>
            <a:ext cx="9692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결과 →  </a:t>
            </a:r>
            <a:r>
              <a:rPr sz="22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이 방법이 안 통한다는 걸, 완전히 다른 방식으로도 확인했다.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이상탐지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정답 라벨 없이 '평소와 다른' 데이터를 찾는 방법</a:t>
            </a:r>
            <a:r>
              <a:rPr sz="10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     </a:t>
            </a: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t-SNE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고차원 데이터를 2D로 눌러 눈으로 보게 하는 시각화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Heart 16"/>
          <p:cNvSpPr/>
          <p:nvPr/>
        </p:nvSpPr>
        <p:spPr>
          <a:xfrm>
            <a:off x="3800703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5673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2 · CREDIT CARD  </a:t>
            </a:r>
            <a:r>
              <a:rPr sz="13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중간 · 그림으로 크게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CatBoost가 놓친 12건 — 피처 공간에서 본 모습</a:t>
            </a:r>
          </a:p>
        </p:txBody>
      </p:sp>
      <p:pic>
        <p:nvPicPr>
          <p:cNvPr id="5" name="Picture 4" descr="Catboost_놓친_FN_산점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005" y="1417320"/>
            <a:ext cx="4437684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742431"/>
            <a:ext cx="107259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파란 점(잡은 사기)은 정상 거래 점군 가장자리에 무리 짓지만, 붉은 ◆(놓친 12건)는 정상 거래 한가운데 흩어져 있다 — 29개 숫자만으로는 분리 불가능.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t-SNE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고차원 데이터를 2D로 눌러 눈으로 보게 하는 시각화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Heart 10"/>
          <p:cNvSpPr/>
          <p:nvPr/>
        </p:nvSpPr>
        <p:spPr>
          <a:xfrm>
            <a:off x="3800703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5673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2 · CREDIT CARD  </a:t>
            </a:r>
            <a:r>
              <a:rPr sz="13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중간 시도 04 · 하이퍼파라미터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ROC-AUC 1위 실험이 F1으로는 꼴찌 — 지표 따라 순위가 바뀐다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600200"/>
            <a:ext cx="9784080" cy="2505456"/>
          </a:xfrm>
          <a:prstGeom prst="rect">
            <a:avLst/>
          </a:prstGeom>
          <a:solidFill>
            <a:srgbClr val="31304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178308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LightGBM 실험별 F1-Score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08760" y="2075688"/>
          <a:ext cx="9144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실험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메모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F1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Baseline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 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0.8757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균형 샘플 앙상블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ROC-AUC는 최고였음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0.6556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50" b="1" dirty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Early Stopping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 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0.5600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임곗값</a:t>
                      </a:r>
                      <a:r>
                        <a:rPr sz="1350" b="1" dirty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 </a:t>
                      </a:r>
                      <a:r>
                        <a:rPr sz="1350" b="1" dirty="0" err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최적화</a:t>
                      </a:r>
                      <a:endParaRPr sz="1350" b="1" dirty="0">
                        <a:solidFill>
                          <a:srgbClr val="F2F0E8"/>
                        </a:solidFill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최고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0.8824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188720" y="4361688"/>
            <a:ext cx="73152" cy="749808"/>
          </a:xfrm>
          <a:prstGeom prst="rect">
            <a:avLst/>
          </a:prstGeom>
          <a:solidFill>
            <a:srgbClr val="38BD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4325112"/>
            <a:ext cx="9692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결과 →  </a:t>
            </a:r>
            <a:r>
              <a:rPr sz="22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지표 하나만 보고 우승자를 정하면, 완전히 다른 결론이 나올 뻔했다.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앙상블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여러 모델의 예측을 합쳐 더 안정적인 결과를 내는 것</a:t>
            </a:r>
            <a:r>
              <a:rPr sz="10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     </a:t>
            </a: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임곗값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확률 몇 % 이상을 사기로 볼지 정하는 경계선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Heart 13"/>
          <p:cNvSpPr/>
          <p:nvPr/>
        </p:nvSpPr>
        <p:spPr>
          <a:xfrm>
            <a:off x="3800703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5673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2 · CREDIT CARD  </a:t>
            </a:r>
            <a:r>
              <a:rPr sz="13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중간 시도 05 · 모델 선정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스태킹으로 합쳤더니 단일 LightGBM보다 나빠졌다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600200"/>
            <a:ext cx="9784080" cy="2505456"/>
          </a:xfrm>
          <a:prstGeom prst="rect">
            <a:avLst/>
          </a:prstGeom>
          <a:solidFill>
            <a:srgbClr val="31304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178308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단독 vs 스태킹 vs 가중평균 — Average Precision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08760" y="2075688"/>
          <a:ext cx="914399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5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9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93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구성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메모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AP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로지스틱 회귀 단독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 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0.6606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LightGBM 단독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최고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0.8255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LR + LGBM 스태킹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합쳤더니 하락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0.8145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가중평균 (LR 10%)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 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0.8154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188720" y="4361688"/>
            <a:ext cx="73152" cy="749808"/>
          </a:xfrm>
          <a:prstGeom prst="rect">
            <a:avLst/>
          </a:prstGeom>
          <a:solidFill>
            <a:srgbClr val="38BD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4325112"/>
            <a:ext cx="9692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결과 →  </a:t>
            </a:r>
            <a:r>
              <a:rPr sz="22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"합치면 낫다"는 생각부터가, 확인 없이는 믿을 게 못 됐다.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257800"/>
            <a:ext cx="9692640" cy="329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 dirty="0" err="1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그래서</a:t>
            </a:r>
            <a:r>
              <a:rPr sz="2000" b="1" i="0" dirty="0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 —  </a:t>
            </a:r>
            <a:r>
              <a:rPr sz="2000" b="1" i="0" dirty="0" err="1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최종</a:t>
            </a:r>
            <a:r>
              <a:rPr sz="2000" b="1" i="0" dirty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i="0" dirty="0" err="1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파이프라인에서</a:t>
            </a:r>
            <a:r>
              <a:rPr sz="2000" b="1" i="0" dirty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i="0" dirty="0" err="1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스태킹을</a:t>
            </a:r>
            <a:r>
              <a:rPr sz="2000" b="1" i="0" dirty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i="0" dirty="0" err="1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빼고</a:t>
            </a:r>
            <a:r>
              <a:rPr sz="2000" b="1" i="0" dirty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i="0" dirty="0" err="1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LightGBM</a:t>
            </a:r>
            <a:r>
              <a:rPr sz="2000" b="1" i="0" dirty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i="0" dirty="0" err="1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단일</a:t>
            </a:r>
            <a:r>
              <a:rPr sz="2000" b="1" i="0" dirty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i="0" dirty="0" err="1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모델로</a:t>
            </a:r>
            <a:r>
              <a:rPr sz="2000" b="1" i="0" dirty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스태킹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여러 모델의 예측을 입력 삼아 최종 모델이 한 번 더 예측</a:t>
            </a:r>
            <a:r>
              <a:rPr sz="10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     </a:t>
            </a: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Average Precision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PR 곡선 아래 넓이 — PR-AUC와 사실상 같은 지표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Heart 14"/>
          <p:cNvSpPr/>
          <p:nvPr/>
        </p:nvSpPr>
        <p:spPr>
          <a:xfrm>
            <a:off x="3800703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5673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2 · CREDIT CARD  </a:t>
            </a:r>
            <a:r>
              <a:rPr sz="13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중간 시도 06 · 하이퍼파라미터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이기는 튜닝법(수동/Grid/Hyperopt)은 모델마다 달랐다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874519"/>
            <a:ext cx="9784080" cy="2212848"/>
          </a:xfrm>
          <a:prstGeom prst="rect">
            <a:avLst/>
          </a:prstGeom>
          <a:solidFill>
            <a:srgbClr val="31304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2057399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모델별 수동/GridSearchCV vs Hyperopt (ROC-AUC)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08760" y="2350007"/>
          <a:ext cx="9143996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4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모델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수동/Grid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Hyperopt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승자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LightGBM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0.9681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0.9687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Hyperopt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로지스틱 회귀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0.9683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0.9606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GridSearchCV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XGBoost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0.9839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0.9728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수동/5-Fold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188720" y="4343400"/>
            <a:ext cx="73152" cy="749808"/>
          </a:xfrm>
          <a:prstGeom prst="rect">
            <a:avLst/>
          </a:prstGeom>
          <a:solidFill>
            <a:srgbClr val="38BD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4434093"/>
            <a:ext cx="9692640" cy="614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 i="0" dirty="0" err="1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결과</a:t>
            </a:r>
            <a:r>
              <a:rPr sz="1500" b="1" i="0" dirty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 →  </a:t>
            </a:r>
            <a:endParaRPr lang="en-US" sz="1500" b="1" i="0" dirty="0">
              <a:solidFill>
                <a:srgbClr val="38BDF8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14000"/>
              </a:lnSpc>
            </a:pPr>
            <a:r>
              <a:rPr sz="22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셋 다 </a:t>
            </a:r>
            <a:r>
              <a:rPr sz="22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다른</a:t>
            </a:r>
            <a:r>
              <a:rPr sz="22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답을</a:t>
            </a:r>
            <a:r>
              <a:rPr sz="22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냈다</a:t>
            </a:r>
            <a:r>
              <a:rPr sz="22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— "이 </a:t>
            </a:r>
            <a:r>
              <a:rPr sz="22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방법이</a:t>
            </a:r>
            <a:r>
              <a:rPr sz="22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항상</a:t>
            </a:r>
            <a:r>
              <a:rPr sz="22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낫다"는</a:t>
            </a:r>
            <a:r>
              <a:rPr sz="22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결론은</a:t>
            </a:r>
            <a:r>
              <a:rPr sz="22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애초에</a:t>
            </a:r>
            <a:r>
              <a:rPr sz="22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없었다</a:t>
            </a:r>
            <a:r>
              <a:rPr sz="22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5-Fold 교차검증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데이터를 5등분해 번갈아 검증하며 평균 성능을 보는 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Heart 13"/>
          <p:cNvSpPr/>
          <p:nvPr/>
        </p:nvSpPr>
        <p:spPr>
          <a:xfrm>
            <a:off x="3800703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5673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2 · CREDIT CARD  </a:t>
            </a:r>
            <a:r>
              <a:rPr sz="13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끝 · 어떻게 합쳤는지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5갈래를 그대로 — 공통 전처리 없이 5명이 각자 완성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각자 _raw.copy()로 독립적으로 시작해, 5명이 서로 다른 모델을 끝까지 각자 완성했다. "한 셀에서 비교해 하나만 채택"하는 구조가 아니다 — 절대 순위를 매기지 않는다는 원칙 그대로.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75104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공통 단계  </a:t>
            </a: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공통 데이터 로드 (creditcard.csv, 284,807건, 1회만)   →   이후 5갈래로 완전 분리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468880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모델별 담당 전략과 결과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51855"/>
              </p:ext>
            </p:extLst>
          </p:nvPr>
        </p:nvGraphicFramePr>
        <p:xfrm>
          <a:off x="1280160" y="2761488"/>
          <a:ext cx="9601198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1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모델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튜닝 · 전략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결과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CatBoost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8가지 실험 → eval_metric='F1' 채택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0.8898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LightGBM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7가지 실험 → Hyperopt 50회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0.8421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XGBoost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데이터 누수 발견 → 5-Fold 재검증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0.8401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Logistic Reg. A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AP 기준 C 재탐색 → 스태킹 검증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0.7771(F1)</a:t>
                      </a:r>
                      <a:endParaRPr sz="1600" b="1" dirty="0">
                        <a:solidFill>
                          <a:srgbClr val="FFC93C"/>
                        </a:solidFill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Logistic Reg. B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전처리 8조합 → Grid/Hyperopt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0.6606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eval_metric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학습이 스스로 성능을 재는 잣대 — 여기선 F1로 바꿈</a:t>
            </a:r>
            <a:r>
              <a:rPr sz="10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     </a:t>
            </a: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CatBoost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범주형 변수를 자동 처리하는 그래디언트 부스팅 모델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Heart 12"/>
          <p:cNvSpPr/>
          <p:nvPr/>
        </p:nvSpPr>
        <p:spPr>
          <a:xfrm>
            <a:off x="3800703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5673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2 · CREDIT CARD  · 끝 ·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CatBoost · PR-AUC 0.8898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43584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트리 부스팅(CatBoost·XGBoost·LightGBM)이 로지스틱 회귀보다 전반적으로 우세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모델별 PR-AUC  (팀원마다 검증 방식이 달라 절대 순위는 아님)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075688"/>
          <a:ext cx="10515600" cy="1591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모델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비고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PR-AUC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CatBoost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최고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0.8898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LightGBM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 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0.8421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XGBoost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 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0.8401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로지스틱 회귀 B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 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0.6606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PR-AUC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소수 정답(사기)을 정확히 잡는 능력 (불균형에 적합)</a:t>
            </a:r>
            <a:r>
              <a:rPr sz="10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     </a:t>
            </a: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부스팅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약한 트리를 순차로 쌓아 앞 트리의 실수를 보완해가는 방식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Heart 15"/>
          <p:cNvSpPr/>
          <p:nvPr/>
        </p:nvSpPr>
        <p:spPr>
          <a:xfrm>
            <a:off x="3800703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5673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507492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 err="1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계획</a:t>
            </a:r>
            <a:r>
              <a:rPr sz="1200" b="1" i="0" dirty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300" b="0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5명 </a:t>
            </a:r>
            <a:r>
              <a:rPr sz="1300" b="0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전원이</a:t>
            </a:r>
            <a:r>
              <a:rPr sz="1300" b="0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각자</a:t>
            </a:r>
            <a:r>
              <a:rPr sz="1300" b="0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다른</a:t>
            </a:r>
            <a:r>
              <a:rPr sz="1300" b="0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파이프라인으로</a:t>
            </a:r>
            <a:r>
              <a:rPr sz="1300" b="0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도전</a:t>
            </a:r>
            <a:r>
              <a:rPr sz="1300" b="0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 ·  </a:t>
            </a:r>
            <a:r>
              <a:rPr sz="1300" b="0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전처리</a:t>
            </a:r>
            <a:r>
              <a:rPr sz="1300" b="0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300" b="0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벡터화</a:t>
            </a:r>
            <a:r>
              <a:rPr sz="1300" b="0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300" b="0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군집화</a:t>
            </a:r>
            <a:endParaRPr sz="1300" b="0" i="0" dirty="0">
              <a:solidFill>
                <a:srgbClr val="F2F0E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군집화(클러스터링)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정답 없이 비슷한 것끼리 묶는 비지도 학습</a:t>
            </a:r>
            <a:r>
              <a:rPr sz="10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     </a:t>
            </a: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TF-IDF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흔한 단어는 낮게, 그 문서에만 자주 나오는 단어는 높게 매기는 벡터화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Heart 28"/>
          <p:cNvSpPr/>
          <p:nvPr/>
        </p:nvSpPr>
        <p:spPr>
          <a:xfrm>
            <a:off x="6242151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8183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3ED454-7AE5-AA38-CF68-AE0C4E705927}"/>
              </a:ext>
            </a:extLst>
          </p:cNvPr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3 · OPINOSIS  </a:t>
            </a:r>
            <a:r>
              <a:rPr sz="1300" b="0" i="0" dirty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</a:t>
            </a:r>
            <a:r>
              <a:rPr sz="1300" b="0" i="0" dirty="0" err="1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처음</a:t>
            </a:r>
            <a:r>
              <a:rPr sz="1300" b="0" i="0" dirty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 · </a:t>
            </a:r>
            <a:r>
              <a:rPr sz="1300" b="0" i="0" dirty="0" err="1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계획</a:t>
            </a:r>
            <a:endParaRPr sz="1300" b="0" i="0" dirty="0">
              <a:solidFill>
                <a:srgbClr val="D9D6E2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A612AA-632F-E56D-2431-E82469A1BF62}"/>
              </a:ext>
            </a:extLst>
          </p:cNvPr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OPINOSIS </a:t>
            </a:r>
            <a:r>
              <a:rPr sz="28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리뷰</a:t>
            </a:r>
            <a:r>
              <a:rPr sz="28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텍스트</a:t>
            </a:r>
            <a:r>
              <a:rPr sz="28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28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비지도</a:t>
            </a:r>
            <a:r>
              <a:rPr sz="28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토픽</a:t>
            </a:r>
            <a:r>
              <a:rPr sz="28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군집화</a:t>
            </a:r>
            <a:endParaRPr sz="2800" b="1" i="0" dirty="0">
              <a:solidFill>
                <a:srgbClr val="F2F0E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8C41F1E-64AA-2D98-674F-AEA32EEB59E3}"/>
              </a:ext>
            </a:extLst>
          </p:cNvPr>
          <p:cNvSpPr/>
          <p:nvPr/>
        </p:nvSpPr>
        <p:spPr>
          <a:xfrm>
            <a:off x="5623560" y="1783080"/>
            <a:ext cx="5532120" cy="868680"/>
          </a:xfrm>
          <a:prstGeom prst="rect">
            <a:avLst/>
          </a:prstGeom>
          <a:solidFill>
            <a:srgbClr val="313040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B49265-A7E5-19AA-B7FB-0901079FB261}"/>
              </a:ext>
            </a:extLst>
          </p:cNvPr>
          <p:cNvSpPr txBox="1"/>
          <p:nvPr/>
        </p:nvSpPr>
        <p:spPr>
          <a:xfrm>
            <a:off x="5943600" y="1965960"/>
            <a:ext cx="19019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51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D6D8B3-8012-361F-EE11-F9857A9FCF1D}"/>
              </a:ext>
            </a:extLst>
          </p:cNvPr>
          <p:cNvSpPr txBox="1"/>
          <p:nvPr/>
        </p:nvSpPr>
        <p:spPr>
          <a:xfrm>
            <a:off x="8138160" y="2103120"/>
            <a:ext cx="19019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전체 문서</a:t>
            </a:r>
          </a:p>
        </p:txBody>
      </p:sp>
      <p:sp>
        <p:nvSpPr>
          <p:cNvPr id="39" name="Rectangle 7">
            <a:extLst>
              <a:ext uri="{FF2B5EF4-FFF2-40B4-BE49-F238E27FC236}">
                <a16:creationId xmlns:a16="http://schemas.microsoft.com/office/drawing/2014/main" id="{2CE7C4EE-87C3-0AA4-956F-67D6CEA288D7}"/>
              </a:ext>
            </a:extLst>
          </p:cNvPr>
          <p:cNvSpPr/>
          <p:nvPr/>
        </p:nvSpPr>
        <p:spPr>
          <a:xfrm>
            <a:off x="5623560" y="2788920"/>
            <a:ext cx="5532120" cy="868680"/>
          </a:xfrm>
          <a:prstGeom prst="rect">
            <a:avLst/>
          </a:prstGeom>
          <a:solidFill>
            <a:srgbClr val="313040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C84E1C-8806-7C7B-0064-3B6BB5F2A23B}"/>
              </a:ext>
            </a:extLst>
          </p:cNvPr>
          <p:cNvSpPr txBox="1"/>
          <p:nvPr/>
        </p:nvSpPr>
        <p:spPr>
          <a:xfrm>
            <a:off x="5943600" y="2971800"/>
            <a:ext cx="19019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5DCA22-BA1A-CFC2-7B89-7E38C04CBC02}"/>
              </a:ext>
            </a:extLst>
          </p:cNvPr>
          <p:cNvSpPr txBox="1"/>
          <p:nvPr/>
        </p:nvSpPr>
        <p:spPr>
          <a:xfrm>
            <a:off x="8138160" y="3108960"/>
            <a:ext cx="19019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도전한 팀원</a:t>
            </a:r>
          </a:p>
        </p:txBody>
      </p:sp>
      <p:sp>
        <p:nvSpPr>
          <p:cNvPr id="46" name="Rectangle 10">
            <a:extLst>
              <a:ext uri="{FF2B5EF4-FFF2-40B4-BE49-F238E27FC236}">
                <a16:creationId xmlns:a16="http://schemas.microsoft.com/office/drawing/2014/main" id="{27B951CC-BA5A-1A66-8BF4-2AAC697D0BE8}"/>
              </a:ext>
            </a:extLst>
          </p:cNvPr>
          <p:cNvSpPr/>
          <p:nvPr/>
        </p:nvSpPr>
        <p:spPr>
          <a:xfrm>
            <a:off x="5623560" y="3794760"/>
            <a:ext cx="5532120" cy="868680"/>
          </a:xfrm>
          <a:prstGeom prst="rect">
            <a:avLst/>
          </a:prstGeom>
          <a:solidFill>
            <a:srgbClr val="313040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93C40E-B9EF-CB70-47D3-2CE62770F733}"/>
              </a:ext>
            </a:extLst>
          </p:cNvPr>
          <p:cNvSpPr txBox="1"/>
          <p:nvPr/>
        </p:nvSpPr>
        <p:spPr>
          <a:xfrm>
            <a:off x="5943600" y="3977640"/>
            <a:ext cx="19019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4F989DB-36E5-1380-D10B-EF1DFDC7F9E4}"/>
              </a:ext>
            </a:extLst>
          </p:cNvPr>
          <p:cNvSpPr txBox="1"/>
          <p:nvPr/>
        </p:nvSpPr>
        <p:spPr>
          <a:xfrm>
            <a:off x="8138160" y="4114800"/>
            <a:ext cx="19019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실제 도메인</a:t>
            </a:r>
          </a:p>
        </p:txBody>
      </p:sp>
      <p:pic>
        <p:nvPicPr>
          <p:cNvPr id="52" name="Picture 32" descr="s21_donut.png">
            <a:extLst>
              <a:ext uri="{FF2B5EF4-FFF2-40B4-BE49-F238E27FC236}">
                <a16:creationId xmlns:a16="http://schemas.microsoft.com/office/drawing/2014/main" id="{3521375E-988B-114F-41B7-28DBC01E0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54480"/>
            <a:ext cx="3977639" cy="341071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3 · OPINOSIS  </a:t>
            </a:r>
            <a:r>
              <a:rPr sz="1300" b="0" i="0" dirty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</a:t>
            </a:r>
            <a:r>
              <a:rPr sz="1300" b="0" i="0" dirty="0" err="1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중간</a:t>
            </a:r>
            <a:r>
              <a:rPr sz="1300" b="0" i="0" dirty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00" b="0" i="0" dirty="0" err="1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시도</a:t>
            </a:r>
            <a:r>
              <a:rPr sz="1300" b="0" i="0" dirty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 01 · </a:t>
            </a:r>
            <a:r>
              <a:rPr sz="1300" b="0" i="0" dirty="0" err="1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전처리</a:t>
            </a:r>
            <a:endParaRPr sz="1300" b="0" i="0" dirty="0">
              <a:solidFill>
                <a:srgbClr val="D9D6E2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세부적으로</a:t>
            </a:r>
            <a:r>
              <a:rPr sz="27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7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다른</a:t>
            </a:r>
            <a:r>
              <a:rPr sz="27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5가지 </a:t>
            </a:r>
            <a:r>
              <a:rPr sz="27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전처리</a:t>
            </a:r>
            <a:r>
              <a:rPr sz="27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7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방식</a:t>
            </a:r>
            <a:endParaRPr sz="2700" b="1" i="0" dirty="0">
              <a:solidFill>
                <a:srgbClr val="F2F0E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88720" y="1600200"/>
            <a:ext cx="9784080" cy="3090672"/>
          </a:xfrm>
          <a:prstGeom prst="rect">
            <a:avLst/>
          </a:prstGeom>
          <a:solidFill>
            <a:srgbClr val="31304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178308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토크나이저 차이로 피처 수부터 갈렸다 (4,139~4,498)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08760" y="2075688"/>
          <a:ext cx="9143998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9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팀원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유형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전처리 · 벡터화 접근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이혜현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A+B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표제어+TF-IDF(1,2) 고정 → 3모델 + 54조합 그리드서치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이진희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B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표제어 생략(소문자+정규식+불용어만) · Count→TF-IDF→PCA→GMM→DBSCAN 순차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김소현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A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7단계 전처리 + TF-IDF(1,2) 고정 → 5모델 비교  (최종 채택)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전유경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A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LemNormalize+TF-IDF(1,2)+영어불용어 고정 → KMeans k=2~5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권용우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B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표제어 전/후 ablation · 5알고리즘 · PCA vs SVD · linkage/metric 튜닝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토크나이저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문장을 단어(토큰) 단위로 쪼개는 규칙</a:t>
            </a:r>
            <a:r>
              <a:rPr sz="10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     </a:t>
            </a: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n-gram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붙어 있는 n개 단어를 한 덩어리로 (battery life)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Heart 15"/>
          <p:cNvSpPr/>
          <p:nvPr/>
        </p:nvSpPr>
        <p:spPr>
          <a:xfrm>
            <a:off x="6242151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8183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3 · OPINOSIS  </a:t>
            </a:r>
            <a:r>
              <a:rPr sz="13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중간 시도 02 · 전처리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순서를 바꿨다면 'was'가 몰래 살아남을 뻔했다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2011679"/>
            <a:ext cx="9784080" cy="1938528"/>
          </a:xfrm>
          <a:prstGeom prst="rect">
            <a:avLst/>
          </a:prstGeom>
          <a:solidFill>
            <a:srgbClr val="31304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2194559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불용어 제거 → 표제어 추출, 순서가 결과를 갈랐다 (김소현 검증)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08760" y="2487167"/>
          <a:ext cx="9144000" cy="1405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적용 순서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예시 (was)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결과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표제어 추출 → 불용어 제거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was → wa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불용어 필터를 통과해버림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불용어 제거 → 표제어 추출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was → (제거됨)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문제없이 정제됨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188720" y="4206240"/>
            <a:ext cx="73152" cy="749808"/>
          </a:xfrm>
          <a:prstGeom prst="rect">
            <a:avLst/>
          </a:prstGeom>
          <a:solidFill>
            <a:srgbClr val="38BD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4169663"/>
            <a:ext cx="9692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결과 →  </a:t>
            </a:r>
            <a:r>
              <a:rPr sz="22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전처리는 순서 하나로도 결과가 달라진다.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표제어 추출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running·ran → run처럼 단어를 사전형 원형으로</a:t>
            </a:r>
            <a:r>
              <a:rPr sz="10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     </a:t>
            </a: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불용어(stopword)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the·is·was처럼 의미 적은 흔한 단어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Heart 15"/>
          <p:cNvSpPr/>
          <p:nvPr/>
        </p:nvSpPr>
        <p:spPr>
          <a:xfrm>
            <a:off x="6242151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8183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3 · OPINOSIS  </a:t>
            </a:r>
            <a:r>
              <a:rPr sz="13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중간 시도 03 · 전처리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Silhouette 0.561 — 48개가 쏠린 가짜 1위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911095"/>
            <a:ext cx="9784080" cy="2139696"/>
          </a:xfrm>
          <a:prstGeom prst="rect">
            <a:avLst/>
          </a:prstGeom>
          <a:solidFill>
            <a:srgbClr val="31304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2093975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Count vs TF-IDF (이진희, 동일 조건: ngram(1,2)·min_df=0.05·max_df=0.85)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08760" y="2386583"/>
          <a:ext cx="9144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벡터화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클러스터 분포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Silhouette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정성 평가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CountVec k=3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(48, 2, 1)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0.561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한 군집에 쏠림 — 가짜 승리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CountVec k=4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(46, 2, 2, 1)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0.437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여전히 심한 불균형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TF-IDF k=4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(18, 15, 10, 8)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0.067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균형적이나 점수는 낮음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188720" y="4306824"/>
            <a:ext cx="73152" cy="749808"/>
          </a:xfrm>
          <a:prstGeom prst="rect">
            <a:avLst/>
          </a:prstGeom>
          <a:solidFill>
            <a:srgbClr val="38BD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4270248"/>
            <a:ext cx="9692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결과 →  </a:t>
            </a:r>
            <a:r>
              <a:rPr sz="22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점수가 높다고 군집이 잘 나뉜 건 아니다.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Silhouette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군집이 얼마나 조밀하고 서로 떨어져 있는지 점수 (−1~1)</a:t>
            </a:r>
            <a:r>
              <a:rPr sz="10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     </a:t>
            </a: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CountVectorizer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단어 출현 '횟수'만 세는 단순 벡터화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Heart 15"/>
          <p:cNvSpPr/>
          <p:nvPr/>
        </p:nvSpPr>
        <p:spPr>
          <a:xfrm>
            <a:off x="6242151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8183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3 · OPINOSIS  </a:t>
            </a:r>
            <a:r>
              <a:rPr sz="13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중간 시도 04 · 전처리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표제어 추출 효과, GMM만 하락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801367"/>
            <a:ext cx="9784080" cy="2359152"/>
          </a:xfrm>
          <a:prstGeom prst="rect">
            <a:avLst/>
          </a:prstGeom>
          <a:solidFill>
            <a:srgbClr val="31304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1984247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2F0E8"/>
                </a:solidFill>
                <a:latin typeface="Consolas"/>
                <a:ea typeface="Consolas"/>
                <a:cs typeface="Consolas"/>
              </a:rPr>
              <a:t>KMeans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984247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6A88F"/>
                </a:solidFill>
                <a:latin typeface="Consolas"/>
                <a:ea typeface="Consolas"/>
                <a:cs typeface="Consolas"/>
              </a:rPr>
              <a:t>0.1035 → 0.1083 (+0.0048)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2276855"/>
            <a:ext cx="8961120" cy="18288"/>
          </a:xfrm>
          <a:prstGeom prst="rect">
            <a:avLst/>
          </a:prstGeom>
          <a:solidFill>
            <a:srgbClr val="3E3D4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1926" y="2267711"/>
            <a:ext cx="197144" cy="36576"/>
          </a:xfrm>
          <a:prstGeom prst="rect">
            <a:avLst/>
          </a:prstGeom>
          <a:solidFill>
            <a:srgbClr val="26A88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770778" y="2235707"/>
            <a:ext cx="82296" cy="82296"/>
          </a:xfrm>
          <a:prstGeom prst="ellipse">
            <a:avLst/>
          </a:prstGeom>
          <a:solidFill>
            <a:srgbClr val="D9D6E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54207" y="2221991"/>
            <a:ext cx="109728" cy="109728"/>
          </a:xfrm>
          <a:prstGeom prst="ellipse">
            <a:avLst/>
          </a:prstGeom>
          <a:solidFill>
            <a:srgbClr val="26A88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08760" y="2478023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2F0E8"/>
                </a:solidFill>
                <a:latin typeface="Consolas"/>
                <a:ea typeface="Consolas"/>
                <a:cs typeface="Consolas"/>
              </a:rPr>
              <a:t>Agglomerative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478023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6A88F"/>
                </a:solidFill>
                <a:latin typeface="Consolas"/>
                <a:ea typeface="Consolas"/>
                <a:cs typeface="Consolas"/>
              </a:rPr>
              <a:t>0.1271 → 0.1518 (+0.0247)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2770631"/>
            <a:ext cx="8961120" cy="18288"/>
          </a:xfrm>
          <a:prstGeom prst="rect">
            <a:avLst/>
          </a:prstGeom>
          <a:solidFill>
            <a:srgbClr val="3E3D4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79727" y="2761487"/>
            <a:ext cx="1003645" cy="36576"/>
          </a:xfrm>
          <a:prstGeom prst="rect">
            <a:avLst/>
          </a:prstGeom>
          <a:solidFill>
            <a:srgbClr val="26A88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738579" y="2729483"/>
            <a:ext cx="82296" cy="82296"/>
          </a:xfrm>
          <a:prstGeom prst="ellipse">
            <a:avLst/>
          </a:prstGeom>
          <a:solidFill>
            <a:srgbClr val="D9D6E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728508" y="2715767"/>
            <a:ext cx="109728" cy="109728"/>
          </a:xfrm>
          <a:prstGeom prst="ellipse">
            <a:avLst/>
          </a:prstGeom>
          <a:solidFill>
            <a:srgbClr val="26A88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08760" y="2971799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2F0E8"/>
                </a:solidFill>
                <a:latin typeface="Consolas"/>
                <a:ea typeface="Consolas"/>
                <a:cs typeface="Consolas"/>
              </a:rPr>
              <a:t>GMM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971799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0.0898 → 0.0838 (−0.0060)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3264407"/>
            <a:ext cx="8961120" cy="18288"/>
          </a:xfrm>
          <a:prstGeom prst="rect">
            <a:avLst/>
          </a:prstGeom>
          <a:solidFill>
            <a:srgbClr val="3E3D4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14386" y="3255263"/>
            <a:ext cx="241950" cy="36576"/>
          </a:xfrm>
          <a:prstGeom prst="rec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215188" y="3223259"/>
            <a:ext cx="82296" cy="82296"/>
          </a:xfrm>
          <a:prstGeom prst="ellipse">
            <a:avLst/>
          </a:prstGeom>
          <a:solidFill>
            <a:srgbClr val="D9D6E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959522" y="3209543"/>
            <a:ext cx="109728" cy="109728"/>
          </a:xfrm>
          <a:prstGeom prst="ellipse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08760" y="3465575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2F0E8"/>
                </a:solidFill>
                <a:latin typeface="Consolas"/>
                <a:ea typeface="Consolas"/>
                <a:cs typeface="Consolas"/>
              </a:rPr>
              <a:t>DBSCAN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465575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6A88F"/>
                </a:solidFill>
                <a:latin typeface="Consolas"/>
                <a:ea typeface="Consolas"/>
                <a:cs typeface="Consolas"/>
              </a:rPr>
              <a:t>0.1900 → 0.1911 (+0.0011)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3758183"/>
            <a:ext cx="8961120" cy="18288"/>
          </a:xfrm>
          <a:prstGeom prst="rect">
            <a:avLst/>
          </a:prstGeom>
          <a:solidFill>
            <a:srgbClr val="3E3D4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342607" y="3749039"/>
            <a:ext cx="44805" cy="36576"/>
          </a:xfrm>
          <a:prstGeom prst="rect">
            <a:avLst/>
          </a:prstGeom>
          <a:solidFill>
            <a:srgbClr val="26A88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301459" y="3717035"/>
            <a:ext cx="82296" cy="82296"/>
          </a:xfrm>
          <a:prstGeom prst="ellipse">
            <a:avLst/>
          </a:prstGeom>
          <a:solidFill>
            <a:srgbClr val="D9D6E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332549" y="3703319"/>
            <a:ext cx="109728" cy="109728"/>
          </a:xfrm>
          <a:prstGeom prst="ellipse">
            <a:avLst/>
          </a:prstGeom>
          <a:solidFill>
            <a:srgbClr val="26A88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188720" y="4416552"/>
            <a:ext cx="73152" cy="749808"/>
          </a:xfrm>
          <a:prstGeom prst="rect">
            <a:avLst/>
          </a:prstGeom>
          <a:solidFill>
            <a:srgbClr val="38BD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463040" y="4379976"/>
            <a:ext cx="9692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결과 →  </a:t>
            </a:r>
            <a:r>
              <a:rPr sz="22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GMM만 유일하게 하락했다 (−0.0060).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표제어 추출(Lemmatization)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running·ran → run처럼 단어를 사전형 원형으로</a:t>
            </a:r>
            <a:r>
              <a:rPr sz="10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     </a:t>
            </a: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GMM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데이터가 여러 정규분포에서 나왔다고 보고 묶는 군집법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Heart 37"/>
          <p:cNvSpPr/>
          <p:nvPr/>
        </p:nvSpPr>
        <p:spPr>
          <a:xfrm>
            <a:off x="6242151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8183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3 · OPINOSIS  </a:t>
            </a:r>
            <a:r>
              <a:rPr sz="13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중간 시도 05 · 모델링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원본 4,498D가 30D 축소보다 정확했다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2011679"/>
            <a:ext cx="9784080" cy="1938528"/>
          </a:xfrm>
          <a:prstGeom prst="rect">
            <a:avLst/>
          </a:prstGeom>
          <a:solidFill>
            <a:srgbClr val="31304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2194559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김소현 파이프라인 — 원본 공간 vs LSA 축소 공간(30D) 비교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08760" y="2487167"/>
          <a:ext cx="9144000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구분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차원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ARI / NMI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원본 공간 그대로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4,498D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1.0000 / 1.0000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LSA 축소 (+L2정규화)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30D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0.8869 / 0.8842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188720" y="4206240"/>
            <a:ext cx="73152" cy="749808"/>
          </a:xfrm>
          <a:prstGeom prst="rect">
            <a:avLst/>
          </a:prstGeom>
          <a:solidFill>
            <a:srgbClr val="38BD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4169663"/>
            <a:ext cx="9692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결과 →  </a:t>
            </a:r>
            <a:r>
              <a:rPr sz="22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차원을 줄였더니 오히려 정확도가 떨어졌다.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LSA(TruncatedSVD)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희소 행렬을 저차원으로 압축하는 텍스트 표준 기법</a:t>
            </a:r>
            <a:r>
              <a:rPr sz="10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     </a:t>
            </a: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L2 정규화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벡터 길이를 1로 맞춰 방향(각도)만 비교하게 하는 전처리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Heart 15"/>
          <p:cNvSpPr/>
          <p:nvPr/>
        </p:nvSpPr>
        <p:spPr>
          <a:xfrm>
            <a:off x="6242151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8183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3 · OPINOSIS  </a:t>
            </a:r>
            <a:r>
              <a:rPr sz="13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중간 · 그림으로 크게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TruncatedSVD(LSA) vs PCA — SVD가 더 적합했다</a:t>
            </a:r>
          </a:p>
        </p:txBody>
      </p:sp>
      <p:sp>
        <p:nvSpPr>
          <p:cNvPr id="20" name="Card 20"/>
          <p:cNvSpPr/>
          <p:nvPr/>
        </p:nvSpPr>
        <p:spPr>
          <a:xfrm>
            <a:off x="1240775" y="1288225"/>
            <a:ext cx="9710143" cy="4418709"/>
          </a:xfrm>
          <a:prstGeom prst="roundRect">
            <a:avLst>
              <a:gd name="adj" fmla="val 4000"/>
            </a:avLst>
          </a:prstGeom>
          <a:solidFill>
            <a:srgbClr val="F5F3E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SVD vs PC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775" y="1468225"/>
            <a:ext cx="9350143" cy="40587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742431"/>
            <a:ext cx="107259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PCA는 0의 의미를 지우지만, SVD는 희소 구조를 보존한다.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SVD(특이값분해)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희소 행렬을 저차원으로 압축하는 선형대수 기법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Heart 12"/>
          <p:cNvSpPr/>
          <p:nvPr/>
        </p:nvSpPr>
        <p:spPr>
          <a:xfrm>
            <a:off x="6242151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8183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3 · OPINOSIS  </a:t>
            </a:r>
            <a:r>
              <a:rPr sz="13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중간 시도 06 · 하이퍼파라미터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벡터화 54조합 전수 탐색 → 피처 −83%, 점수 +82%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2011679"/>
            <a:ext cx="9784080" cy="1938528"/>
          </a:xfrm>
          <a:prstGeom prst="rect">
            <a:avLst/>
          </a:prstGeom>
          <a:solidFill>
            <a:srgbClr val="31304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2194559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이혜현 — 54조합(ngram×min_df×max_df×k) 그리드서치 전후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08760" y="2487167"/>
          <a:ext cx="9144000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항목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전 → 후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변화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벡터화 피처 수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6,258 → 1,106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−83%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Silhouette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0.0872 → 0.1587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+82%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188720" y="4206240"/>
            <a:ext cx="73152" cy="749808"/>
          </a:xfrm>
          <a:prstGeom prst="rect">
            <a:avLst/>
          </a:prstGeom>
          <a:solidFill>
            <a:srgbClr val="38BD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4169663"/>
            <a:ext cx="9692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결과 →  </a:t>
            </a:r>
            <a:r>
              <a:rPr sz="22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작은 데이터에서는 파라미터 정제 하나가 점수를 크게 끌어올렸다.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그리드서치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격자처럼 짠 모든 조합을 전수로 시험</a:t>
            </a:r>
            <a:r>
              <a:rPr sz="10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     </a:t>
            </a: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min_df / max_df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너무 드물거나(min) 너무 흔한(max) 단어를 잘라내는 기준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Heart 15"/>
          <p:cNvSpPr/>
          <p:nvPr/>
        </p:nvSpPr>
        <p:spPr>
          <a:xfrm>
            <a:off x="6242151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8183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3 · OPINOSIS  </a:t>
            </a:r>
            <a:r>
              <a:rPr sz="13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중간 시도 07 · 모델 선정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5개 모델 중 KMeans(원본 공간)가 압도적이었다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600200"/>
            <a:ext cx="9784080" cy="3090672"/>
          </a:xfrm>
          <a:prstGeom prst="rect">
            <a:avLst/>
          </a:prstGeom>
          <a:solidFill>
            <a:srgbClr val="31304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178308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모델 종합 성능 비교 (김소현 노트북 실측, 보고서 표 6-2)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08760" y="2075688"/>
          <a:ext cx="9143998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9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모델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입력벡터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ARI / NMI (평가)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KMeans (원본)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4,498D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1.00 / 1.00 — 최우수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KMeans (LSA)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30D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0.89 / 0.88 — 우수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Agglomerative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30D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0.88 / 0.85 — 우수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GMM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30D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0.59 / 0.73 — 중간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HDBSCAN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30D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0.32 / 0.39 — 부적절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188720" y="4946904"/>
            <a:ext cx="73152" cy="749808"/>
          </a:xfrm>
          <a:prstGeom prst="rect">
            <a:avLst/>
          </a:prstGeom>
          <a:solidFill>
            <a:srgbClr val="38BD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4910328"/>
            <a:ext cx="9692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결과 →  </a:t>
            </a:r>
            <a:r>
              <a:rPr sz="22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원본 공간 KMeans가 5개 모델 중 가장 정확했다.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입력벡터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모델이 실제로 학습에 사용한 차원 공간(원본 vs 축소)</a:t>
            </a:r>
            <a:r>
              <a:rPr sz="10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     </a:t>
            </a: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ARI · NMI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군집 결과가 실제 정답과 일치하는 정도 (1이면 완전 일치)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Heart 15"/>
          <p:cNvSpPr/>
          <p:nvPr/>
        </p:nvSpPr>
        <p:spPr>
          <a:xfrm>
            <a:off x="6242151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8183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3 · OPINOSIS  </a:t>
            </a:r>
            <a:r>
              <a:rPr sz="13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중간 시도 08 · 모델 선정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DBSCAN — 문서 51개로는 대부분이 이상치가 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988819"/>
            <a:ext cx="9784080" cy="1984248"/>
          </a:xfrm>
          <a:prstGeom prst="rect">
            <a:avLst/>
          </a:prstGeom>
          <a:solidFill>
            <a:srgbClr val="31304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2171699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eps=0.5 — 이상치로 버려진 문서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464307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34개 · 66.7%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19" y="2171699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eps=0.8 — 이상치는 줄지만 도메인 혼합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19" y="2464307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16개 · 31%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314699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문서 51개 소표본에선 대부분이 '이상치'로 버려진다 → 최종 </a:t>
            </a:r>
            <a:r>
              <a:rPr sz="1400" b="1" i="0">
                <a:solidFill>
                  <a:srgbClr val="FFC93C"/>
                </a:solidFill>
                <a:latin typeface="맑은 고딕"/>
                <a:ea typeface="맑은 고딕"/>
                <a:cs typeface="맑은 고딕"/>
              </a:rPr>
              <a:t>elbow 기준 eps=1.2로 절충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4229100"/>
            <a:ext cx="73152" cy="749808"/>
          </a:xfrm>
          <a:prstGeom prst="rect">
            <a:avLst/>
          </a:prstGeom>
          <a:solidFill>
            <a:srgbClr val="38BD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40" y="4192524"/>
            <a:ext cx="9692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결과 →  </a:t>
            </a:r>
            <a:r>
              <a:rPr sz="22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노이즈를 줄이면 도메인이 섞이는 트레이드오프가 나타났다.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DBSCAN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가까이 모인 점을 군집으로, 외톨이는 노이즈로 처리</a:t>
            </a:r>
            <a:r>
              <a:rPr sz="10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     </a:t>
            </a: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eps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'가깝다'고 볼 반경 — DBSCAN의 핵심 파라미터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Heart 18"/>
          <p:cNvSpPr/>
          <p:nvPr/>
        </p:nvSpPr>
        <p:spPr>
          <a:xfrm>
            <a:off x="6242151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8183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3 · OPINOSIS  </a:t>
            </a:r>
            <a:r>
              <a:rPr sz="13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중간 · 그림으로 크게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DBSCAN — 이상치와 군집 배정을 눈으로</a:t>
            </a:r>
          </a:p>
        </p:txBody>
      </p:sp>
      <p:pic>
        <p:nvPicPr>
          <p:cNvPr id="5" name="Picture 4" descr="opinosis_dbscan_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775" y="1417320"/>
            <a:ext cx="9350143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742431"/>
            <a:ext cx="107259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eps 낮추면 대부분 이상치, 높이면 도메인이 섞인다 — 최종 eps=1.2로 절충.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PCA 2D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고차원 벡터를 눈으로 볼 수 있게 2차원으로 압축한 투영</a:t>
            </a:r>
          </a:p>
        </p:txBody>
      </p:sp>
      <p:sp>
        <p:nvSpPr>
          <p:cNvPr id="8" name="Rectangle 7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Heart 12"/>
          <p:cNvSpPr/>
          <p:nvPr/>
        </p:nvSpPr>
        <p:spPr>
          <a:xfrm>
            <a:off x="6242151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8183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3 · OPINOSIS  </a:t>
            </a:r>
            <a:r>
              <a:rPr sz="13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끝 · 어떻게 합쳤는지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5개 파이프라인을 비교 검증 → 채택된 코드만 재구성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5명의 파이프라인을 비교 검증해 25개 셀 대표 노트북으로 재구성했다.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75104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공통 단계  </a:t>
            </a: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데이터 로드 (문서 51개)   →   기초 EDA   →   7단계 전처리   →   TF-IDF (ngram(1,2)·min_df=0.05·max_df=0.85)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468880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모델별 담당 전략과 결과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280160" y="2761488"/>
          <a:ext cx="9601198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18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9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모델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튜닝 · 전략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결과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Track ① KMeans k=3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원본 공간, 도메인 대분류 — 메인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ARI/NMI = 1.00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Track ② KMeans k=5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그리드서치 최적 파라미터, 세분화 — 보조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5개 테마 분리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ARI / NMI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군집 결과가 실제 정답 분류와 얼마나 일치하는지 (1이면 완전 일치)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Heart 14"/>
          <p:cNvSpPr/>
          <p:nvPr/>
        </p:nvSpPr>
        <p:spPr>
          <a:xfrm>
            <a:off x="6242151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8183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3 · OPINOSIS  </a:t>
            </a:r>
            <a:r>
              <a:rPr sz="13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· 끝 · 교차검증 그림으로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371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다른</a:t>
            </a:r>
            <a:r>
              <a:rPr sz="24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4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벡터</a:t>
            </a:r>
            <a:r>
              <a:rPr sz="24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24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24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4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결론</a:t>
            </a:r>
            <a:r>
              <a:rPr sz="24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—</a:t>
            </a:r>
            <a:r>
              <a:rPr lang="en-US" sz="24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 k</a:t>
            </a:r>
            <a:r>
              <a:rPr sz="2400" b="1" i="0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=5 </a:t>
            </a:r>
            <a:r>
              <a:rPr sz="2400" b="1" i="0" dirty="0" err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결과</a:t>
            </a:r>
            <a:endParaRPr sz="2400" b="1" i="0" dirty="0">
              <a:solidFill>
                <a:srgbClr val="F2F0E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Card 20"/>
          <p:cNvSpPr/>
          <p:nvPr/>
        </p:nvSpPr>
        <p:spPr>
          <a:xfrm>
            <a:off x="3493594" y="1237320"/>
            <a:ext cx="5204508" cy="4360000"/>
          </a:xfrm>
          <a:prstGeom prst="roundRect">
            <a:avLst>
              <a:gd name="adj" fmla="val 4000"/>
            </a:avLst>
          </a:prstGeom>
          <a:solidFill>
            <a:srgbClr val="F5F3E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k5 PC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594" y="1417320"/>
            <a:ext cx="4844508" cy="40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742431"/>
            <a:ext cx="107259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서로 다른 두 벡터(1,106D vs 4,4xxD)가 똑같이 '5개 세부 니즈' 구조에 도달했다.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독립 재현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서로 다른 조건의 실험이 같은 결론에 도달해, 결과가 우연이 아님을 뒷받침하는 것</a:t>
            </a:r>
          </a:p>
        </p:txBody>
      </p:sp>
      <p:sp>
        <p:nvSpPr>
          <p:cNvPr id="8" name="Rectangle 7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Heart 12"/>
          <p:cNvSpPr/>
          <p:nvPr/>
        </p:nvSpPr>
        <p:spPr>
          <a:xfrm>
            <a:off x="6242151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8183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384F"/>
                </a:solidFill>
                <a:latin typeface="Consolas"/>
                <a:ea typeface="Consolas"/>
                <a:cs typeface="Consolas"/>
              </a:rPr>
              <a:t>3 · OPINOSIS  · 끝 ·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76656"/>
            <a:ext cx="110916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KMeans 2-Track — 대분류(k=3) + 세분화(k=5)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43584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같은 데이터에서 나온, 목적이 다른 두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Two-Track 결과 요약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075688"/>
          <a:ext cx="10515597" cy="95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4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0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Track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방식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결과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9D6E2"/>
                          </a:solidFill>
                          <a:latin typeface="Consolas"/>
                          <a:ea typeface="Consolas"/>
                          <a:cs typeface="Consolas"/>
                        </a:rPr>
                        <a:t>용도</a:t>
                      </a:r>
                    </a:p>
                  </a:txBody>
                  <a:tcPr marL="88900" marR="88900" marT="38100" marB="38100" anchor="ctr">
                    <a:solidFill>
                      <a:srgbClr val="31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① 대분류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KMeans k=3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ARI/NMI = 1.00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고객센터 VOC 자동 라우팅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② 세분화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KMeans k=5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2F0E8"/>
                          </a:solidFill>
                          <a:latin typeface="Consolas"/>
                          <a:ea typeface="Consolas"/>
                          <a:cs typeface="Consolas"/>
                        </a:rPr>
                        <a:t>5개 테마 분리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93C"/>
                          </a:solidFill>
                          <a:latin typeface="Consolas"/>
                          <a:ea typeface="Consolas"/>
                          <a:cs typeface="Consolas"/>
                        </a:rPr>
                        <a:t>제품 개선 · 마케팅</a:t>
                      </a:r>
                    </a:p>
                  </a:txBody>
                  <a:tcPr marL="88900" marR="88900" marT="38100" marB="38100" anchor="ctr">
                    <a:solidFill>
                      <a:srgbClr val="282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22960" y="3060000"/>
            <a:ext cx="105156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② 세분화 5개 테마 — Kindle 세부 · 호텔 서비스 · 전자기기 UX · 자동차 승차감 · 배터리·성능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7413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6A88F"/>
                </a:solidFill>
                <a:latin typeface="Consolas"/>
                <a:ea typeface="Consolas"/>
                <a:cs typeface="Consolas"/>
              </a:rPr>
              <a:t>선정 이유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7647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26A88F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25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서로 다른 5개 파이프라인이 같은 결론에 수렴 — 가장 강한 교차검증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97096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26A88F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25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Silhouette 하나로는 승패를 못 가른다는 것을 직접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177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26A88F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250" b="0" i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"실패한 시도"도 유의미한 검증 — 공통 전처리 함수 부족은 아쉬운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교차검증 </a:t>
            </a:r>
            <a:r>
              <a:rPr sz="1000" b="0" i="0">
                <a:solidFill>
                  <a:srgbClr val="D9D6E2"/>
                </a:solidFill>
                <a:latin typeface="맑은 고딕"/>
                <a:ea typeface="맑은 고딕"/>
                <a:cs typeface="맑은 고딕"/>
              </a:rPr>
              <a:t>= 데이터를 나눠 번갈아 검증해 결과가 우연이 아님을 확인하는 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Heart 17"/>
          <p:cNvSpPr/>
          <p:nvPr/>
        </p:nvSpPr>
        <p:spPr>
          <a:xfrm>
            <a:off x="6242151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8183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20175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9142"/>
                </a:solidFill>
                <a:latin typeface="맑은 고딕"/>
              </a:rPr>
              <a:t>●</a:t>
            </a:r>
            <a:r>
              <a:rPr sz="1400" b="1">
                <a:solidFill>
                  <a:srgbClr val="FF9142"/>
                </a:solidFill>
                <a:latin typeface="맑은 고딕"/>
              </a:rPr>
              <a:t> 계획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전처리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FE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모델선정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튜닝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통합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2F0E8"/>
                </a:solidFill>
                <a:latin typeface="맑은 고딕"/>
              </a:rPr>
              <a:t>MERCARI 중고거래 가격 예측 — 텍스트 기반 회귀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D9D6E2"/>
                </a:solidFill>
                <a:latin typeface="맑은 고딕"/>
              </a:rPr>
              <a:t>상품명·설명·카테고리 텍스트로 판매 가격을 예측한다  ·  평가지표 RMSLE(낮을수록 우수)</a:t>
            </a: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C139EC93-E62D-F1FA-431F-B50048B99F83}"/>
              </a:ext>
            </a:extLst>
          </p:cNvPr>
          <p:cNvSpPr/>
          <p:nvPr/>
        </p:nvSpPr>
        <p:spPr>
          <a:xfrm>
            <a:off x="5623560" y="2208276"/>
            <a:ext cx="5532120" cy="868680"/>
          </a:xfrm>
          <a:prstGeom prst="rect">
            <a:avLst/>
          </a:prstGeom>
          <a:solidFill>
            <a:srgbClr val="313040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3D9331-2EB8-C38D-56D8-8A8F268A7A14}"/>
              </a:ext>
            </a:extLst>
          </p:cNvPr>
          <p:cNvSpPr txBox="1"/>
          <p:nvPr/>
        </p:nvSpPr>
        <p:spPr>
          <a:xfrm>
            <a:off x="5943600" y="2391156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1,482,535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6C0CFD-9257-9860-A947-9B238E52A187}"/>
              </a:ext>
            </a:extLst>
          </p:cNvPr>
          <p:cNvSpPr txBox="1"/>
          <p:nvPr/>
        </p:nvSpPr>
        <p:spPr>
          <a:xfrm>
            <a:off x="8138160" y="2528316"/>
            <a:ext cx="24963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dirty="0" err="1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전체</a:t>
            </a:r>
            <a:r>
              <a:rPr sz="1200" b="0" i="0" dirty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 dirty="0" err="1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거래</a:t>
            </a:r>
            <a:endParaRPr sz="1200" b="0" i="0" dirty="0">
              <a:solidFill>
                <a:srgbClr val="D9D6E2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0" name="Rectangle 7">
            <a:extLst>
              <a:ext uri="{FF2B5EF4-FFF2-40B4-BE49-F238E27FC236}">
                <a16:creationId xmlns:a16="http://schemas.microsoft.com/office/drawing/2014/main" id="{DB238391-D851-4586-B83A-7E610BB87E9F}"/>
              </a:ext>
            </a:extLst>
          </p:cNvPr>
          <p:cNvSpPr/>
          <p:nvPr/>
        </p:nvSpPr>
        <p:spPr>
          <a:xfrm>
            <a:off x="5623560" y="3214116"/>
            <a:ext cx="5532120" cy="868680"/>
          </a:xfrm>
          <a:prstGeom prst="rect">
            <a:avLst/>
          </a:prstGeom>
          <a:solidFill>
            <a:srgbClr val="313040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E65F7D-6AB5-AADF-886B-A2C41DAB2B2C}"/>
              </a:ext>
            </a:extLst>
          </p:cNvPr>
          <p:cNvSpPr txBox="1"/>
          <p:nvPr/>
        </p:nvSpPr>
        <p:spPr>
          <a:xfrm>
            <a:off x="5943600" y="3396996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4,808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8196BB-B37E-34A0-44E2-7F7DA7223F7B}"/>
              </a:ext>
            </a:extLst>
          </p:cNvPr>
          <p:cNvSpPr txBox="1"/>
          <p:nvPr/>
        </p:nvSpPr>
        <p:spPr>
          <a:xfrm>
            <a:off x="8138160" y="3534156"/>
            <a:ext cx="24963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브랜드 종류</a:t>
            </a:r>
          </a:p>
        </p:txBody>
      </p:sp>
      <p:sp>
        <p:nvSpPr>
          <p:cNvPr id="36" name="Rectangle 10">
            <a:extLst>
              <a:ext uri="{FF2B5EF4-FFF2-40B4-BE49-F238E27FC236}">
                <a16:creationId xmlns:a16="http://schemas.microsoft.com/office/drawing/2014/main" id="{2B81697F-DCB0-0F97-97C4-320391E56577}"/>
              </a:ext>
            </a:extLst>
          </p:cNvPr>
          <p:cNvSpPr/>
          <p:nvPr/>
        </p:nvSpPr>
        <p:spPr>
          <a:xfrm>
            <a:off x="5623560" y="4219956"/>
            <a:ext cx="5532120" cy="868680"/>
          </a:xfrm>
          <a:prstGeom prst="rect">
            <a:avLst/>
          </a:prstGeom>
          <a:solidFill>
            <a:srgbClr val="313040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960E46-FD20-FA91-C221-93F260FA87A6}"/>
              </a:ext>
            </a:extLst>
          </p:cNvPr>
          <p:cNvSpPr txBox="1"/>
          <p:nvPr/>
        </p:nvSpPr>
        <p:spPr>
          <a:xfrm>
            <a:off x="5943600" y="4402836"/>
            <a:ext cx="24963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C93C"/>
                </a:solidFill>
                <a:latin typeface="Consolas"/>
                <a:ea typeface="Consolas"/>
                <a:cs typeface="Consolas"/>
              </a:rPr>
              <a:t>861+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F6EA9-AE7D-9629-9AC4-FFAFFC1F09F6}"/>
              </a:ext>
            </a:extLst>
          </p:cNvPr>
          <p:cNvSpPr txBox="1"/>
          <p:nvPr/>
        </p:nvSpPr>
        <p:spPr>
          <a:xfrm>
            <a:off x="8138160" y="4539996"/>
            <a:ext cx="24963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소분류 카테고리</a:t>
            </a:r>
          </a:p>
        </p:txBody>
      </p:sp>
      <p:pic>
        <p:nvPicPr>
          <p:cNvPr id="42" name="Picture 26" descr="s31_donut.png">
            <a:extLst>
              <a:ext uri="{FF2B5EF4-FFF2-40B4-BE49-F238E27FC236}">
                <a16:creationId xmlns:a16="http://schemas.microsoft.com/office/drawing/2014/main" id="{39C2EA55-0615-F023-F10F-256C806DC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71116"/>
            <a:ext cx="4206240" cy="3346704"/>
          </a:xfrm>
          <a:prstGeom prst="rect">
            <a:avLst/>
          </a:prstGeom>
        </p:spPr>
      </p:pic>
      <p:sp>
        <p:nvSpPr>
          <p:cNvPr id="900" name="Rectangle 17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" name="TextBox 18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902" name="Rectangle 19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" name="TextBox 20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904" name="Rectangle 21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" name="TextBox 22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906" name="Rectangle 23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" name="Heart 24"/>
          <p:cNvSpPr/>
          <p:nvPr/>
        </p:nvSpPr>
        <p:spPr>
          <a:xfrm>
            <a:off x="8683599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" name="TextBox 25"/>
          <p:cNvSpPr txBox="1"/>
          <p:nvPr/>
        </p:nvSpPr>
        <p:spPr>
          <a:xfrm>
            <a:off x="89396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9142"/>
                </a:solidFill>
                <a:latin typeface="맑은 고딕"/>
              </a:rPr>
              <a:t>●</a:t>
            </a:r>
            <a:r>
              <a:rPr sz="1400" b="1">
                <a:solidFill>
                  <a:srgbClr val="FF9142"/>
                </a:solidFill>
                <a:latin typeface="맑은 고딕"/>
              </a:rPr>
              <a:t> 계획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전처리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FE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모델선정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튜닝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통합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2F0E8"/>
                </a:solidFill>
                <a:latin typeface="맑은 고딕"/>
              </a:rPr>
              <a:t>핵심 용어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550847" y="1650000"/>
            <a:ext cx="3550000" cy="1550000"/>
          </a:xfrm>
          <a:prstGeom prst="rect">
            <a:avLst/>
          </a:prstGeom>
          <a:solidFill>
            <a:srgbClr val="1D1C29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0847" y="1840000"/>
            <a:ext cx="315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맑은 고딕"/>
              </a:rPr>
              <a:t>RMSLE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847" y="2300000"/>
            <a:ext cx="31500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D9D6E2"/>
                </a:solidFill>
                <a:latin typeface="맑은 고딕"/>
              </a:rPr>
              <a:t>예측과 실제 가격의 로그 오차를 재는 지표. 0에 가까울수록 좋음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847" y="1650000"/>
            <a:ext cx="3550000" cy="1550000"/>
          </a:xfrm>
          <a:prstGeom prst="rect">
            <a:avLst/>
          </a:prstGeom>
          <a:solidFill>
            <a:srgbClr val="1D1C29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0847" y="1840000"/>
            <a:ext cx="315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맑은 고딕"/>
              </a:rPr>
              <a:t>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0847" y="2300000"/>
            <a:ext cx="31500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D9D6E2"/>
                </a:solidFill>
                <a:latin typeface="맑은 고딕"/>
              </a:rPr>
              <a:t>희소한 텍스트 피처에 강한 선형 회귀 모델 (L2 규제)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0847" y="1650000"/>
            <a:ext cx="3550000" cy="1550000"/>
          </a:xfrm>
          <a:prstGeom prst="rect">
            <a:avLst/>
          </a:prstGeom>
          <a:solidFill>
            <a:srgbClr val="1D1C29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0847" y="1840000"/>
            <a:ext cx="315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맑은 고딕"/>
              </a:rPr>
              <a:t>LightGBM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847" y="2300000"/>
            <a:ext cx="31500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D9D6E2"/>
                </a:solidFill>
                <a:latin typeface="맑은 고딕"/>
              </a:rPr>
              <a:t>비선형 관계·구조화 피처를 학습하는 부스팅 트리 모델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0847" y="3420000"/>
            <a:ext cx="3550000" cy="1550000"/>
          </a:xfrm>
          <a:prstGeom prst="rect">
            <a:avLst/>
          </a:prstGeom>
          <a:solidFill>
            <a:srgbClr val="1D1C29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0847" y="3610000"/>
            <a:ext cx="315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맑은 고딕"/>
              </a:rPr>
              <a:t>FM_FTRL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847" y="4070000"/>
            <a:ext cx="31500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D9D6E2"/>
                </a:solidFill>
                <a:latin typeface="맑은 고딕"/>
              </a:rPr>
              <a:t>희소 피처 간 상호작용을 학습하는 온라인 선형 모델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847" y="3420000"/>
            <a:ext cx="3550000" cy="1550000"/>
          </a:xfrm>
          <a:prstGeom prst="rect">
            <a:avLst/>
          </a:prstGeom>
          <a:solidFill>
            <a:srgbClr val="1D1C29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20847" y="3610000"/>
            <a:ext cx="315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맑은 고딕"/>
              </a:rPr>
              <a:t>TF-IDF / CountVec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0847" y="4070000"/>
            <a:ext cx="31500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D9D6E2"/>
                </a:solidFill>
                <a:latin typeface="맑은 고딕"/>
              </a:rPr>
              <a:t>텍스트를 숫자 벡터로 바꾸는 방식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0847" y="3420000"/>
            <a:ext cx="3550000" cy="1550000"/>
          </a:xfrm>
          <a:prstGeom prst="rect">
            <a:avLst/>
          </a:prstGeom>
          <a:solidFill>
            <a:srgbClr val="1D1C29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90847" y="3610000"/>
            <a:ext cx="315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맑은 고딕"/>
              </a:rPr>
              <a:t>블렌딩(앙상블)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0847" y="4070000"/>
            <a:ext cx="31500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D9D6E2"/>
                </a:solidFill>
                <a:latin typeface="맑은 고딕"/>
              </a:rPr>
              <a:t>서로 다른 모델의 예측을 가중 평균해 합치는 것</a:t>
            </a:r>
          </a:p>
        </p:txBody>
      </p:sp>
      <p:sp>
        <p:nvSpPr>
          <p:cNvPr id="900" name="Rectangle 17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" name="TextBox 18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902" name="Rectangle 19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" name="TextBox 20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904" name="Rectangle 21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" name="TextBox 22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906" name="Rectangle 23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" name="Heart 24"/>
          <p:cNvSpPr/>
          <p:nvPr/>
        </p:nvSpPr>
        <p:spPr>
          <a:xfrm>
            <a:off x="8683599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" name="TextBox 25"/>
          <p:cNvSpPr txBox="1"/>
          <p:nvPr/>
        </p:nvSpPr>
        <p:spPr>
          <a:xfrm>
            <a:off x="89396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D9D6E2"/>
                </a:solidFill>
                <a:latin typeface="맑은 고딕"/>
              </a:rPr>
              <a:t>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계획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</a:t>
            </a:r>
            <a:r>
              <a:rPr sz="1300" b="1">
                <a:solidFill>
                  <a:srgbClr val="FF9142"/>
                </a:solidFill>
                <a:latin typeface="맑은 고딕"/>
              </a:rPr>
              <a:t>●</a:t>
            </a:r>
            <a:r>
              <a:rPr sz="1400" b="1">
                <a:solidFill>
                  <a:srgbClr val="FF9142"/>
                </a:solidFill>
                <a:latin typeface="맑은 고딕"/>
              </a:rPr>
              <a:t> 전처리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FE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모델선정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튜닝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통합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2F0E8"/>
                </a:solidFill>
                <a:latin typeface="맑은 고딕"/>
              </a:rPr>
              <a:t>Target(price) 분포는 전형적인 우측 왜도 형태 — np.log1p(price)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D9D6E2"/>
                </a:solidFill>
                <a:latin typeface="맑은 고딕"/>
              </a:rPr>
              <a:t>중앙값 $17 · 평균 $26.74 — 평균이 중앙값보다 훨씬 높은 것 자체가 소수 고가 상품이 분포를 오른쪽으로 늘어뜨리고 있다는 신호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80000"/>
            <a:ext cx="5415836" cy="3800000"/>
          </a:xfrm>
          <a:prstGeom prst="rect">
            <a:avLst/>
          </a:prstGeom>
          <a:solidFill>
            <a:srgbClr val="1D1C29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24476" y="1980000"/>
            <a:ext cx="5415836" cy="3800000"/>
          </a:xfrm>
          <a:prstGeom prst="rect">
            <a:avLst/>
          </a:prstGeom>
          <a:solidFill>
            <a:srgbClr val="1D1C29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dia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40" y="2209259"/>
            <a:ext cx="5235836" cy="3341481"/>
          </a:xfrm>
          <a:prstGeom prst="rect">
            <a:avLst/>
          </a:prstGeom>
        </p:spPr>
      </p:pic>
      <p:pic>
        <p:nvPicPr>
          <p:cNvPr id="11" name="Picture 10" descr="dia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476" y="2209259"/>
            <a:ext cx="5235836" cy="334148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050000"/>
            <a:ext cx="11091672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D9D6E2"/>
                </a:solidFill>
                <a:latin typeface="맑은 고딕"/>
              </a:rPr>
              <a:t>RMSLE는 로그 공간의 오차를 재는 지표 — 그래서 price를 미리 log1p로 바꿔 학습한다 (전처리 근거)</a:t>
            </a:r>
          </a:p>
        </p:txBody>
      </p:sp>
      <p:sp>
        <p:nvSpPr>
          <p:cNvPr id="900" name="Rectangle 17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" name="TextBox 18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902" name="Rectangle 19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" name="TextBox 20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904" name="Rectangle 21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" name="TextBox 22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906" name="Rectangle 23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" name="Heart 24"/>
          <p:cNvSpPr/>
          <p:nvPr/>
        </p:nvSpPr>
        <p:spPr>
          <a:xfrm>
            <a:off x="8683599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" name="TextBox 25"/>
          <p:cNvSpPr txBox="1"/>
          <p:nvPr/>
        </p:nvSpPr>
        <p:spPr>
          <a:xfrm>
            <a:off x="89396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D9D6E2"/>
                </a:solidFill>
                <a:latin typeface="맑은 고딕"/>
              </a:rPr>
              <a:t>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계획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</a:t>
            </a:r>
            <a:r>
              <a:rPr sz="1300" b="1">
                <a:solidFill>
                  <a:srgbClr val="FF9142"/>
                </a:solidFill>
                <a:latin typeface="맑은 고딕"/>
              </a:rPr>
              <a:t>●</a:t>
            </a:r>
            <a:r>
              <a:rPr sz="1400" b="1">
                <a:solidFill>
                  <a:srgbClr val="FF9142"/>
                </a:solidFill>
                <a:latin typeface="맑은 고딕"/>
              </a:rPr>
              <a:t> 전처리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FE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모델선정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튜닝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통합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2F0E8"/>
                </a:solidFill>
                <a:latin typeface="맑은 고딕"/>
              </a:rPr>
              <a:t>브랜드명 42.68%가 비어 있다 — 결측 자체가 신호였다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50000"/>
            <a:ext cx="47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D9D6E2"/>
                </a:solidFill>
                <a:latin typeface="맑은 고딕"/>
              </a:rPr>
              <a:t>주요 컬럼 결측 비율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70000"/>
            <a:ext cx="13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F2F0E8"/>
                </a:solidFill>
                <a:latin typeface="맑은 고딕"/>
              </a:rPr>
              <a:t>브랜드명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2538720" y="2230000"/>
            <a:ext cx="2530000" cy="220000"/>
          </a:xfrm>
          <a:prstGeom prst="rect">
            <a:avLst/>
          </a:prstGeom>
          <a:solidFill>
            <a:srgbClr val="16151F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38720" y="2230000"/>
            <a:ext cx="2399564" cy="220000"/>
          </a:xfrm>
          <a:prstGeom prst="rect">
            <a:avLst/>
          </a:prstGeom>
          <a:solidFill>
            <a:srgbClr val="E83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28720" y="2170000"/>
            <a:ext cx="76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E8384F"/>
                </a:solidFill>
                <a:latin typeface="맑은 고딕"/>
              </a:rPr>
              <a:t>42.68%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30000"/>
            <a:ext cx="13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F2F0E8"/>
                </a:solidFill>
                <a:latin typeface="맑은 고딕"/>
              </a:rPr>
              <a:t>카테고리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38720" y="2790000"/>
            <a:ext cx="2530000" cy="220000"/>
          </a:xfrm>
          <a:prstGeom prst="rect">
            <a:avLst/>
          </a:prstGeom>
          <a:solidFill>
            <a:srgbClr val="16151F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38720" y="2790000"/>
            <a:ext cx="24175" cy="220000"/>
          </a:xfrm>
          <a:prstGeom prst="rect">
            <a:avLst/>
          </a:prstGeom>
          <a:solidFill>
            <a:srgbClr val="D9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28720" y="2730000"/>
            <a:ext cx="76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F2F0E8"/>
                </a:solidFill>
                <a:latin typeface="맑은 고딕"/>
              </a:rPr>
              <a:t>0.43%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90000"/>
            <a:ext cx="13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F2F0E8"/>
                </a:solidFill>
                <a:latin typeface="맑은 고딕"/>
              </a:rPr>
              <a:t>설명글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38720" y="3350000"/>
            <a:ext cx="2530000" cy="220000"/>
          </a:xfrm>
          <a:prstGeom prst="rect">
            <a:avLst/>
          </a:prstGeom>
          <a:solidFill>
            <a:srgbClr val="16151F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538720" y="3350000"/>
            <a:ext cx="20000" cy="220000"/>
          </a:xfrm>
          <a:prstGeom prst="rect">
            <a:avLst/>
          </a:prstGeom>
          <a:solidFill>
            <a:srgbClr val="D9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8720" y="3290000"/>
            <a:ext cx="76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F2F0E8"/>
                </a:solidFill>
                <a:latin typeface="맑은 고딕"/>
              </a:rPr>
              <a:t>0.04%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0000" y="1700000"/>
            <a:ext cx="4700000" cy="2350000"/>
          </a:xfrm>
          <a:prstGeom prst="rect">
            <a:avLst/>
          </a:prstGeom>
          <a:solidFill>
            <a:srgbClr val="1D1C29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00000" y="1860000"/>
            <a:ext cx="43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D9D6E2"/>
                </a:solidFill>
                <a:latin typeface="맑은 고딕"/>
              </a:rPr>
              <a:t>결측 개수(null_penalty)별 분포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00000" y="2450000"/>
            <a:ext cx="2455300" cy="620000"/>
          </a:xfrm>
          <a:prstGeom prst="rect">
            <a:avLst/>
          </a:prstGeom>
          <a:solidFill>
            <a:srgbClr val="D9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55300" y="2450000"/>
            <a:ext cx="1831800" cy="620000"/>
          </a:xfrm>
          <a:prstGeom prst="rect">
            <a:avLst/>
          </a:prstGeom>
          <a:solidFill>
            <a:srgbClr val="FF9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787100" y="2450000"/>
            <a:ext cx="20000" cy="620000"/>
          </a:xfrm>
          <a:prstGeom prst="rect">
            <a:avLst/>
          </a:prstGeom>
          <a:solidFill>
            <a:srgbClr val="E83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48950" y="2450000"/>
            <a:ext cx="12700" cy="620000"/>
          </a:xfrm>
          <a:prstGeom prst="rect">
            <a:avLst/>
          </a:prstGeom>
          <a:solidFill>
            <a:srgbClr val="0B0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780750" y="2450000"/>
            <a:ext cx="12700" cy="620000"/>
          </a:xfrm>
          <a:prstGeom prst="rect">
            <a:avLst/>
          </a:prstGeom>
          <a:solidFill>
            <a:srgbClr val="0B0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00000" y="2480000"/>
            <a:ext cx="2451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2F0E8"/>
                </a:solidFill>
                <a:latin typeface="맑은 고딕"/>
              </a:rPr>
              <a:t>0개  57.1%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94000" y="2480000"/>
            <a:ext cx="172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0B0B12"/>
                </a:solidFill>
                <a:latin typeface="맑은 고딕"/>
              </a:rPr>
              <a:t>1개  42.6%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80000" y="2310000"/>
            <a:ext cx="12700" cy="900000"/>
          </a:xfrm>
          <a:prstGeom prst="rect">
            <a:avLst/>
          </a:prstGeom>
          <a:solidFill>
            <a:srgbClr val="E83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80000" y="2020000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50" b="1">
                <a:solidFill>
                  <a:srgbClr val="E8384F"/>
                </a:solidFill>
                <a:latin typeface="맑은 고딕"/>
              </a:rPr>
              <a:t>2개 · 0.23%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0000" y="3250000"/>
            <a:ext cx="2451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>
                <a:solidFill>
                  <a:srgbClr val="D9D6E2"/>
                </a:solidFill>
                <a:latin typeface="맑은 고딕"/>
              </a:rPr>
              <a:t>846,446건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4000" y="3250000"/>
            <a:ext cx="172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>
                <a:solidFill>
                  <a:srgbClr val="D9D6E2"/>
                </a:solidFill>
                <a:latin typeface="맑은 고딕"/>
              </a:rPr>
              <a:t>631,706건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80000" y="3250000"/>
            <a:ext cx="15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0">
                <a:solidFill>
                  <a:srgbClr val="D9D6E2"/>
                </a:solidFill>
                <a:latin typeface="맑은 고딕"/>
              </a:rPr>
              <a:t>3,451건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550000"/>
            <a:ext cx="11091672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D9D6E2"/>
                </a:solidFill>
                <a:latin typeface="맑은 고딕"/>
              </a:rPr>
              <a:t>결측 개수가 많을수록(브랜드·카테고리·설명 등록이 부실할수록) 평균 판매 가격이 낮아지는 경향이 뚜렷했다</a:t>
            </a:r>
          </a:p>
          <a:p>
            <a:pPr algn="l">
              <a:lnSpc>
                <a:spcPct val="130000"/>
              </a:lnSpc>
            </a:pPr>
            <a:r>
              <a:rPr sz="1450" b="0">
                <a:solidFill>
                  <a:srgbClr val="D9D6E2"/>
                </a:solidFill>
                <a:latin typeface="맑은 고딕"/>
              </a:rPr>
              <a:t>→ 결측을 삭제하지 않고 별도 범주로 유지하는 전처리 방향의 근거</a:t>
            </a:r>
          </a:p>
        </p:txBody>
      </p:sp>
      <p:sp>
        <p:nvSpPr>
          <p:cNvPr id="900" name="Rectangle 17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" name="TextBox 18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902" name="Rectangle 19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" name="TextBox 20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904" name="Rectangle 21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" name="TextBox 22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906" name="Rectangle 23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" name="Heart 24"/>
          <p:cNvSpPr/>
          <p:nvPr/>
        </p:nvSpPr>
        <p:spPr>
          <a:xfrm>
            <a:off x="8683599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" name="TextBox 25"/>
          <p:cNvSpPr txBox="1"/>
          <p:nvPr/>
        </p:nvSpPr>
        <p:spPr>
          <a:xfrm>
            <a:off x="89396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D9D6E2"/>
                </a:solidFill>
                <a:latin typeface="맑은 고딕"/>
              </a:rPr>
              <a:t>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계획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</a:t>
            </a:r>
            <a:r>
              <a:rPr sz="1300" b="1">
                <a:solidFill>
                  <a:srgbClr val="FF9142"/>
                </a:solidFill>
                <a:latin typeface="맑은 고딕"/>
              </a:rPr>
              <a:t>●</a:t>
            </a:r>
            <a:r>
              <a:rPr sz="1400" b="1">
                <a:solidFill>
                  <a:srgbClr val="FF9142"/>
                </a:solidFill>
                <a:latin typeface="맑은 고딕"/>
              </a:rPr>
              <a:t> 전처리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FE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모델선정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튜닝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통합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2F0E8"/>
                </a:solidFill>
                <a:latin typeface="맑은 고딕"/>
              </a:rPr>
              <a:t>공통 전처리 규칙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1203847" y="1650000"/>
            <a:ext cx="3120000" cy="3550000"/>
          </a:xfrm>
          <a:prstGeom prst="rect">
            <a:avLst/>
          </a:prstGeom>
          <a:solidFill>
            <a:srgbClr val="1D1C29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83847" y="1830000"/>
            <a:ext cx="276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38BDF8"/>
                </a:solidFill>
                <a:latin typeface="맑은 고딕"/>
              </a:rPr>
              <a:t>① 타깃 로그 변환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3847" y="2350000"/>
            <a:ext cx="276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FFC93C"/>
                </a:solidFill>
                <a:latin typeface="맑은 고딕"/>
              </a:rPr>
              <a:t>price → log1p(price)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3847" y="3200000"/>
            <a:ext cx="2760000" cy="1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D9D6E2"/>
                </a:solidFill>
                <a:latin typeface="맑은 고딕"/>
              </a:rPr>
              <a:t>우측 왜도 분포를 완화 → RMSE 최소화가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D9D6E2"/>
                </a:solidFill>
                <a:latin typeface="맑은 고딕"/>
              </a:rPr>
              <a:t>곧 RMSLE 최소화가 되도록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35847" y="1650000"/>
            <a:ext cx="3120000" cy="3550000"/>
          </a:xfrm>
          <a:prstGeom prst="rect">
            <a:avLst/>
          </a:prstGeom>
          <a:solidFill>
            <a:srgbClr val="1D1C29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15847" y="1830000"/>
            <a:ext cx="276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38BDF8"/>
                </a:solidFill>
                <a:latin typeface="맑은 고딕"/>
              </a:rPr>
              <a:t>② 가격 이상치 제거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5847" y="2350000"/>
            <a:ext cx="276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FFC93C"/>
                </a:solidFill>
                <a:latin typeface="맑은 고딕"/>
              </a:rPr>
              <a:t>price==0  874건(0.06%)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5847" y="3200000"/>
            <a:ext cx="2760000" cy="1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D9D6E2"/>
                </a:solidFill>
                <a:latin typeface="맑은 고딕"/>
              </a:rPr>
              <a:t>무료 나눔·오입력으로 판단해 제거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D9D6E2"/>
                </a:solidFill>
                <a:latin typeface="맑은 고딕"/>
              </a:rPr>
              <a:t>price≥2,000(등록 상한 초과)도 소수 제거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7847" y="1650000"/>
            <a:ext cx="3120000" cy="3550000"/>
          </a:xfrm>
          <a:prstGeom prst="rect">
            <a:avLst/>
          </a:prstGeom>
          <a:solidFill>
            <a:srgbClr val="1D1C29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7847" y="1830000"/>
            <a:ext cx="276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38BDF8"/>
                </a:solidFill>
                <a:latin typeface="맑은 고딕"/>
              </a:rPr>
              <a:t>③ 브랜드 결측 복원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7847" y="2350000"/>
            <a:ext cx="276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FFC93C"/>
                </a:solidFill>
                <a:latin typeface="맑은 고딕"/>
              </a:rPr>
              <a:t>57% → 84%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7847" y="3200000"/>
            <a:ext cx="2760000" cy="1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D9D6E2"/>
                </a:solidFill>
                <a:latin typeface="맑은 고딕"/>
              </a:rPr>
              <a:t>설명글 텍스트에서 브랜드명을 역매칭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D9D6E2"/>
                </a:solidFill>
                <a:latin typeface="맑은 고딕"/>
              </a:rPr>
              <a:t>남은 Unknown은 약 25만 건</a:t>
            </a:r>
          </a:p>
        </p:txBody>
      </p:sp>
      <p:sp>
        <p:nvSpPr>
          <p:cNvPr id="900" name="Rectangle 17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" name="TextBox 18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902" name="Rectangle 19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" name="TextBox 20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904" name="Rectangle 21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" name="TextBox 22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906" name="Rectangle 23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" name="Heart 24"/>
          <p:cNvSpPr/>
          <p:nvPr/>
        </p:nvSpPr>
        <p:spPr>
          <a:xfrm>
            <a:off x="8683599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" name="TextBox 25"/>
          <p:cNvSpPr txBox="1"/>
          <p:nvPr/>
        </p:nvSpPr>
        <p:spPr>
          <a:xfrm>
            <a:off x="89396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D9D6E2"/>
                </a:solidFill>
                <a:latin typeface="맑은 고딕"/>
              </a:rPr>
              <a:t>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계획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전처리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</a:t>
            </a:r>
            <a:r>
              <a:rPr sz="1300" b="1">
                <a:solidFill>
                  <a:srgbClr val="FF9142"/>
                </a:solidFill>
                <a:latin typeface="맑은 고딕"/>
              </a:rPr>
              <a:t>●</a:t>
            </a:r>
            <a:r>
              <a:rPr sz="1400" b="1">
                <a:solidFill>
                  <a:srgbClr val="FF9142"/>
                </a:solidFill>
                <a:latin typeface="맑은 고딕"/>
              </a:rPr>
              <a:t> FE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모델선정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튜닝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통합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2F0E8"/>
                </a:solidFill>
                <a:latin typeface="맑은 고딕"/>
              </a:rPr>
              <a:t>같은 원본 컬럼, 다른 벡터화·인코딩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D9D6E2"/>
                </a:solidFill>
                <a:latin typeface="맑은 고딕"/>
              </a:rPr>
              <a:t>비교 모델은 Ridge로 고정 — 5명 전원이 Ridge를 공통 베이스라인으로 채택했기 때문(6.1절)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50000"/>
            <a:ext cx="4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맑은 고딕"/>
              </a:rPr>
              <a:t>product_text 통합 (TF-IDF ngram1-2, 200k)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8720" y="2070000"/>
            <a:ext cx="4400000" cy="260000"/>
          </a:xfrm>
          <a:prstGeom prst="rect">
            <a:avLst/>
          </a:prstGeom>
          <a:solidFill>
            <a:srgbClr val="16151F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8720" y="2070000"/>
            <a:ext cx="962866" cy="260000"/>
          </a:xfrm>
          <a:prstGeom prst="rect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08720" y="2040000"/>
            <a:ext cx="1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C93C"/>
                </a:solidFill>
                <a:latin typeface="맑은 고딕"/>
              </a:rPr>
              <a:t>0.4331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00000"/>
            <a:ext cx="4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맑은 고딕"/>
              </a:rPr>
              <a:t>숫자 보존 정제 + 브랜드 역매칭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8720" y="2720000"/>
            <a:ext cx="4400000" cy="260000"/>
          </a:xfrm>
          <a:prstGeom prst="rect">
            <a:avLst/>
          </a:prstGeom>
          <a:solidFill>
            <a:srgbClr val="16151F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8720" y="2720000"/>
            <a:ext cx="2527800" cy="260000"/>
          </a:xfrm>
          <a:prstGeom prst="rect">
            <a:avLst/>
          </a:prstGeom>
          <a:solidFill>
            <a:srgbClr val="D9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08720" y="2690000"/>
            <a:ext cx="1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맑은 고딕"/>
              </a:rPr>
              <a:t>0.4545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50000"/>
            <a:ext cx="4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맑은 고딕"/>
              </a:rPr>
              <a:t>n-gram(1–3) 벡터화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8720" y="3370000"/>
            <a:ext cx="4400000" cy="260000"/>
          </a:xfrm>
          <a:prstGeom prst="rect">
            <a:avLst/>
          </a:prstGeom>
          <a:solidFill>
            <a:srgbClr val="16151F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8720" y="3370000"/>
            <a:ext cx="2640000" cy="260000"/>
          </a:xfrm>
          <a:prstGeom prst="rect">
            <a:avLst/>
          </a:prstGeom>
          <a:solidFill>
            <a:srgbClr val="D9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08720" y="3340000"/>
            <a:ext cx="1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맑은 고딕"/>
              </a:rPr>
              <a:t>0.4560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000000"/>
            <a:ext cx="4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맑은 고딕"/>
              </a:rPr>
              <a:t>CountVec(어휘 제한 없음)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8720" y="4020000"/>
            <a:ext cx="4400000" cy="260000"/>
          </a:xfrm>
          <a:prstGeom prst="rect">
            <a:avLst/>
          </a:prstGeom>
          <a:solidFill>
            <a:srgbClr val="16151F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8720" y="4020000"/>
            <a:ext cx="2882000" cy="260000"/>
          </a:xfrm>
          <a:prstGeom prst="rect">
            <a:avLst/>
          </a:prstGeom>
          <a:solidFill>
            <a:srgbClr val="D9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08720" y="3990000"/>
            <a:ext cx="1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맑은 고딕"/>
              </a:rPr>
              <a:t>0.4593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650000"/>
            <a:ext cx="4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맑은 고딕"/>
              </a:rPr>
              <a:t>원-핫 인코딩 + 유니그램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8720" y="4670000"/>
            <a:ext cx="4400000" cy="260000"/>
          </a:xfrm>
          <a:prstGeom prst="rect">
            <a:avLst/>
          </a:prstGeom>
          <a:solidFill>
            <a:srgbClr val="16151F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8720" y="4670000"/>
            <a:ext cx="3715799" cy="260000"/>
          </a:xfrm>
          <a:prstGeom prst="rect">
            <a:avLst/>
          </a:prstGeom>
          <a:solidFill>
            <a:srgbClr val="D9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08720" y="4640000"/>
            <a:ext cx="1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맑은 고딕"/>
              </a:rPr>
              <a:t>0.4707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8720" y="5360000"/>
            <a:ext cx="10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D9D6E2"/>
                </a:solidFill>
                <a:latin typeface="맑은 고딕"/>
              </a:rPr>
              <a:t>0.42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88720" y="5360000"/>
            <a:ext cx="10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>
                <a:solidFill>
                  <a:srgbClr val="D9D6E2"/>
                </a:solidFill>
                <a:latin typeface="맑은 고딕"/>
              </a:rPr>
              <a:t>0.48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8720" y="5620000"/>
            <a:ext cx="456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D9D6E2"/>
                </a:solidFill>
                <a:latin typeface="맑은 고딕"/>
              </a:rPr>
              <a:t>축 범위 0.42~0.48 (RMSLE, 값이 근접해 확대 표시)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900000"/>
            <a:ext cx="11091672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D9D6E2"/>
                </a:solidFill>
                <a:latin typeface="맑은 고딕"/>
              </a:rPr>
              <a:t>※ 팀원별 파이프라인 조건(어휘 크기 등)이 달라 절대 비교가 아닌 경향 참고용</a:t>
            </a:r>
          </a:p>
        </p:txBody>
      </p:sp>
      <p:sp>
        <p:nvSpPr>
          <p:cNvPr id="900" name="Rectangle 17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" name="TextBox 18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902" name="Rectangle 19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" name="TextBox 20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904" name="Rectangle 21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" name="TextBox 22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906" name="Rectangle 23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" name="Heart 24"/>
          <p:cNvSpPr/>
          <p:nvPr/>
        </p:nvSpPr>
        <p:spPr>
          <a:xfrm>
            <a:off x="8683599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" name="TextBox 25"/>
          <p:cNvSpPr txBox="1"/>
          <p:nvPr/>
        </p:nvSpPr>
        <p:spPr>
          <a:xfrm>
            <a:off x="89396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D9D6E2"/>
                </a:solidFill>
                <a:latin typeface="맑은 고딕"/>
              </a:rPr>
              <a:t>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계획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전처리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</a:t>
            </a:r>
            <a:r>
              <a:rPr sz="1300" b="1">
                <a:solidFill>
                  <a:srgbClr val="FF9142"/>
                </a:solidFill>
                <a:latin typeface="맑은 고딕"/>
              </a:rPr>
              <a:t>●</a:t>
            </a:r>
            <a:r>
              <a:rPr sz="1400" b="1">
                <a:solidFill>
                  <a:srgbClr val="FF9142"/>
                </a:solidFill>
                <a:latin typeface="맑은 고딕"/>
              </a:rPr>
              <a:t> FE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모델선정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튜닝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통합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2F0E8"/>
                </a:solidFill>
                <a:latin typeface="맑은 고딕"/>
              </a:rPr>
              <a:t>새 피처가 만든 개선 — target encoding 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D9D6E2"/>
                </a:solidFill>
                <a:latin typeface="맑은 고딕"/>
              </a:rPr>
              <a:t>상품명/설명 길이·브랜드 존재 여부에 더해, 브랜드·소분류별 평균 로그가격을 학습 데이터에서만 통계 낸 target encoding을 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00000" y="2350000"/>
            <a:ext cx="24500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맑은 고딕"/>
              </a:rPr>
              <a:t>신규 피처 추가 전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0000" y="2360000"/>
            <a:ext cx="4441672" cy="300000"/>
          </a:xfrm>
          <a:prstGeom prst="rect">
            <a:avLst/>
          </a:prstGeom>
          <a:solidFill>
            <a:srgbClr val="16151F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950000" y="2360000"/>
            <a:ext cx="4203598" cy="300000"/>
          </a:xfrm>
          <a:prstGeom prst="rect">
            <a:avLst/>
          </a:prstGeom>
          <a:solidFill>
            <a:srgbClr val="D9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11672" y="2345000"/>
            <a:ext cx="10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F2F0E8"/>
                </a:solidFill>
                <a:latin typeface="맑은 고딕"/>
              </a:rPr>
              <a:t>0.47320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0000" y="3000000"/>
            <a:ext cx="24500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맑은 고딕"/>
              </a:rPr>
              <a:t>신규 피처 추가 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0000" y="3010000"/>
            <a:ext cx="4441672" cy="300000"/>
          </a:xfrm>
          <a:prstGeom prst="rect">
            <a:avLst/>
          </a:prstGeom>
          <a:solidFill>
            <a:srgbClr val="16151F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50000" y="3010000"/>
            <a:ext cx="4177126" cy="300000"/>
          </a:xfrm>
          <a:prstGeom prst="rect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11672" y="2995000"/>
            <a:ext cx="10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FC93C"/>
                </a:solidFill>
                <a:latin typeface="맑은 고딕"/>
              </a:rPr>
              <a:t>0.47022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5000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38BDF8"/>
                </a:solidFill>
                <a:latin typeface="맑은 고딕"/>
              </a:rPr>
              <a:t>추가된 피처 3가지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400000"/>
            <a:ext cx="26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2F0E8"/>
                </a:solidFill>
                <a:latin typeface="맑은 고딕"/>
              </a:rPr>
              <a:t>null_penalty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0000" y="4400000"/>
            <a:ext cx="7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D9D6E2"/>
                </a:solidFill>
                <a:latin typeface="맑은 고딕"/>
              </a:rPr>
              <a:t>결측 개수(0~2) — 결측이 많을수록 가격이 낮아지는 경향을 신호로 활용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80000"/>
            <a:ext cx="26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2F0E8"/>
                </a:solidFill>
                <a:latin typeface="맑은 고딕"/>
              </a:rPr>
              <a:t>has_brand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0000" y="4880000"/>
            <a:ext cx="7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D9D6E2"/>
                </a:solidFill>
                <a:latin typeface="맑은 고딕"/>
              </a:rPr>
              <a:t>브랜드 존재 여부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360000"/>
            <a:ext cx="26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2F0E8"/>
                </a:solidFill>
                <a:latin typeface="맑은 고딕"/>
              </a:rPr>
              <a:t>brand_te / cat_so_te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0000" y="5360000"/>
            <a:ext cx="7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D9D6E2"/>
                </a:solidFill>
                <a:latin typeface="맑은 고딕"/>
              </a:rPr>
              <a:t>브랜드·소분류별 평균 로그가격 (target encoding, 스무딩 k=10, leakage-free)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050000"/>
            <a:ext cx="11091672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>
                <a:solidFill>
                  <a:srgbClr val="D9D6E2"/>
                </a:solidFill>
                <a:latin typeface="맑은 고딕"/>
              </a:rPr>
              <a:t>Ridge보다 약 3배 큰 개선 — 비선형 트리 모델이 target encoding 신호를 더 잘 활용한 것으로 해석</a:t>
            </a:r>
          </a:p>
        </p:txBody>
      </p:sp>
      <p:sp>
        <p:nvSpPr>
          <p:cNvPr id="900" name="Rectangle 17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" name="TextBox 18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902" name="Rectangle 19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" name="TextBox 20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904" name="Rectangle 21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" name="TextBox 22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906" name="Rectangle 23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" name="Heart 24"/>
          <p:cNvSpPr/>
          <p:nvPr/>
        </p:nvSpPr>
        <p:spPr>
          <a:xfrm>
            <a:off x="8683599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" name="TextBox 25"/>
          <p:cNvSpPr txBox="1"/>
          <p:nvPr/>
        </p:nvSpPr>
        <p:spPr>
          <a:xfrm>
            <a:off x="89396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D9D6E2"/>
                </a:solidFill>
                <a:latin typeface="맑은 고딕"/>
              </a:rPr>
              <a:t>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계획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전처리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FE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</a:t>
            </a:r>
            <a:r>
              <a:rPr sz="1300" b="1">
                <a:solidFill>
                  <a:srgbClr val="FF9142"/>
                </a:solidFill>
                <a:latin typeface="맑은 고딕"/>
              </a:rPr>
              <a:t>●</a:t>
            </a:r>
            <a:r>
              <a:rPr sz="1400" b="1">
                <a:solidFill>
                  <a:srgbClr val="FF9142"/>
                </a:solidFill>
                <a:latin typeface="맑은 고딕"/>
              </a:rPr>
              <a:t> 모델선정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튜닝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통합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2F0E8"/>
                </a:solidFill>
                <a:latin typeface="맑은 고딕"/>
              </a:rPr>
              <a:t>왜 네 가지 모델을 함께 봤는가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275847" y="1700000"/>
            <a:ext cx="2790000" cy="3500000"/>
          </a:xfrm>
          <a:prstGeom prst="rect">
            <a:avLst/>
          </a:prstGeom>
          <a:solidFill>
            <a:srgbClr val="1D1C29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5847" y="1880000"/>
            <a:ext cx="24500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맑은 고딕"/>
              </a:rPr>
              <a:t>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847" y="2450000"/>
            <a:ext cx="2450000" cy="1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D9D6E2"/>
                </a:solidFill>
                <a:latin typeface="맑은 고딕"/>
              </a:rPr>
              <a:t>고차원 희소 피처에 안정적인 선형 베이스라인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847" y="4650000"/>
            <a:ext cx="245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C93C"/>
                </a:solidFill>
                <a:latin typeface="맑은 고딕"/>
              </a:rPr>
              <a:t>RMSLE 0.43~0.47 구간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5847" y="1700000"/>
            <a:ext cx="2790000" cy="3500000"/>
          </a:xfrm>
          <a:prstGeom prst="rect">
            <a:avLst/>
          </a:prstGeom>
          <a:solidFill>
            <a:srgbClr val="1D1C29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95847" y="1880000"/>
            <a:ext cx="24500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맑은 고딕"/>
              </a:rPr>
              <a:t>LightGBM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5847" y="2450000"/>
            <a:ext cx="2450000" cy="1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D9D6E2"/>
                </a:solidFill>
                <a:latin typeface="맑은 고딕"/>
              </a:rPr>
              <a:t>비선형 상호작용·구조화 피처를 학습하는 부스팅 트리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5847" y="4650000"/>
            <a:ext cx="245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C93C"/>
                </a:solidFill>
                <a:latin typeface="맑은 고딕"/>
              </a:rPr>
              <a:t>튜닝 후 0.4291까지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5847" y="1700000"/>
            <a:ext cx="2790000" cy="3500000"/>
          </a:xfrm>
          <a:prstGeom prst="rect">
            <a:avLst/>
          </a:prstGeom>
          <a:solidFill>
            <a:srgbClr val="1D1C29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45847" y="1880000"/>
            <a:ext cx="24500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맑은 고딕"/>
              </a:rPr>
              <a:t>Lasso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847" y="2450000"/>
            <a:ext cx="2450000" cy="1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D9D6E2"/>
                </a:solidFill>
                <a:latin typeface="맑은 고딕"/>
              </a:rPr>
              <a:t>L1 규제로 계수를 0으로 압축 — 이 데이터엔 과소적합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847" y="4650000"/>
            <a:ext cx="245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C93C"/>
                </a:solidFill>
                <a:latin typeface="맑은 고딕"/>
              </a:rPr>
              <a:t>0.6082로 탈락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25847" y="1700000"/>
            <a:ext cx="2790000" cy="3500000"/>
          </a:xfrm>
          <a:prstGeom prst="rect">
            <a:avLst/>
          </a:prstGeom>
          <a:solidFill>
            <a:srgbClr val="1D1C29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5847" y="1880000"/>
            <a:ext cx="24500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맑은 고딕"/>
              </a:rPr>
              <a:t>FM_FTRL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5847" y="2450000"/>
            <a:ext cx="2450000" cy="1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D9D6E2"/>
                </a:solidFill>
                <a:latin typeface="맑은 고딕"/>
              </a:rPr>
              <a:t>희소 피처 간 상호작용을 직접 구현한 온라인 선형 모델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5847" y="4650000"/>
            <a:ext cx="245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C93C"/>
                </a:solidFill>
                <a:latin typeface="맑은 고딕"/>
              </a:rPr>
              <a:t>블렌드 가중치 0.35</a:t>
            </a:r>
          </a:p>
        </p:txBody>
      </p:sp>
      <p:sp>
        <p:nvSpPr>
          <p:cNvPr id="900" name="Rectangle 17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" name="TextBox 18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902" name="Rectangle 19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" name="TextBox 20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904" name="Rectangle 21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" name="TextBox 22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906" name="Rectangle 23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" name="Heart 24"/>
          <p:cNvSpPr/>
          <p:nvPr/>
        </p:nvSpPr>
        <p:spPr>
          <a:xfrm>
            <a:off x="8683599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" name="TextBox 25"/>
          <p:cNvSpPr txBox="1"/>
          <p:nvPr/>
        </p:nvSpPr>
        <p:spPr>
          <a:xfrm>
            <a:off x="89396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D9D6E2"/>
                </a:solidFill>
                <a:latin typeface="맑은 고딕"/>
              </a:rPr>
              <a:t>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계획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전처리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FE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</a:t>
            </a:r>
            <a:r>
              <a:rPr sz="1300" b="1">
                <a:solidFill>
                  <a:srgbClr val="FF9142"/>
                </a:solidFill>
                <a:latin typeface="맑은 고딕"/>
              </a:rPr>
              <a:t>●</a:t>
            </a:r>
            <a:r>
              <a:rPr sz="1400" b="1">
                <a:solidFill>
                  <a:srgbClr val="FF9142"/>
                </a:solidFill>
                <a:latin typeface="맑은 고딕"/>
              </a:rPr>
              <a:t> 모델선정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튜닝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통합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2F0E8"/>
                </a:solidFill>
                <a:latin typeface="맑은 고딕"/>
              </a:rPr>
              <a:t>피처를 줄이는 Lasso, 이 데이터에선 성능이 크게 하락했다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2900000" y="1750000"/>
            <a:ext cx="6391672" cy="3050000"/>
          </a:xfrm>
          <a:prstGeom prst="rect">
            <a:avLst/>
          </a:prstGeom>
          <a:solidFill>
            <a:srgbClr val="1D1C29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lasso_ridg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295" y="1850000"/>
            <a:ext cx="4029081" cy="265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00000" y="4470000"/>
            <a:ext cx="639167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D9D6E2"/>
                </a:solidFill>
                <a:latin typeface="맑은 고딕"/>
              </a:rPr>
              <a:t>Lasso: 152/83,486개 피처(0.2%)·528.6초   ·   Ridge: 전체 피처 유지·54.1초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00000"/>
            <a:ext cx="11091672" cy="1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D9D6E2"/>
                </a:solidFill>
                <a:latin typeface="맑은 고딕"/>
              </a:rPr>
              <a:t>Lasso는 83,486개 피처 중 152개(0.2%)만 남기고 나머지를 0으로 만들어 과소적합에 빠졌다</a:t>
            </a:r>
          </a:p>
          <a:p>
            <a:pPr algn="l">
              <a:lnSpc>
                <a:spcPct val="130000"/>
              </a:lnSpc>
            </a:pPr>
            <a:r>
              <a:rPr sz="1450" b="0">
                <a:solidFill>
                  <a:srgbClr val="D9D6E2"/>
                </a:solidFill>
                <a:latin typeface="맑은 고딕"/>
              </a:rPr>
              <a:t>가격 신호가 소수의 강한 피처가 아니라 수만 개의 약한 피처에 얇게 분산돼 있어,</a:t>
            </a:r>
          </a:p>
          <a:p>
            <a:pPr algn="l">
              <a:lnSpc>
                <a:spcPct val="130000"/>
              </a:lnSpc>
            </a:pPr>
            <a:r>
              <a:rPr sz="1450" b="0">
                <a:solidFill>
                  <a:srgbClr val="D9D6E2"/>
                </a:solidFill>
                <a:latin typeface="맑은 고딕"/>
              </a:rPr>
              <a:t>계수를 널찍이 나눠 갖는 L2(Ridge) 방식이 이 데이터 구조에 더 적합했다</a:t>
            </a:r>
          </a:p>
        </p:txBody>
      </p:sp>
      <p:sp>
        <p:nvSpPr>
          <p:cNvPr id="900" name="Rectangle 17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" name="TextBox 18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902" name="Rectangle 19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" name="TextBox 20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904" name="Rectangle 21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" name="TextBox 22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906" name="Rectangle 23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" name="Heart 24"/>
          <p:cNvSpPr/>
          <p:nvPr/>
        </p:nvSpPr>
        <p:spPr>
          <a:xfrm>
            <a:off x="8683599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" name="TextBox 25"/>
          <p:cNvSpPr txBox="1"/>
          <p:nvPr/>
        </p:nvSpPr>
        <p:spPr>
          <a:xfrm>
            <a:off x="89396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D9D6E2"/>
                </a:solidFill>
                <a:latin typeface="맑은 고딕"/>
              </a:rPr>
              <a:t>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계획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전처리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FE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</a:t>
            </a:r>
            <a:r>
              <a:rPr sz="1300" b="1">
                <a:solidFill>
                  <a:srgbClr val="FF9142"/>
                </a:solidFill>
                <a:latin typeface="맑은 고딕"/>
              </a:rPr>
              <a:t>●</a:t>
            </a:r>
            <a:r>
              <a:rPr sz="1400" b="1">
                <a:solidFill>
                  <a:srgbClr val="FF9142"/>
                </a:solidFill>
                <a:latin typeface="맑은 고딕"/>
              </a:rPr>
              <a:t> 모델선정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튜닝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통합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2F0E8"/>
                </a:solidFill>
                <a:latin typeface="맑은 고딕"/>
              </a:rPr>
              <a:t>Ridge가 실제로 배운 것 — 상위/하위 회귀계수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D9D6E2"/>
                </a:solidFill>
                <a:latin typeface="맑은 고딕"/>
              </a:rPr>
              <a:t>숫자+단위 조합 토큰이 가격을 가장 크게 올렸다 — 텍스트 정제 시 숫자를 보존한 이유(4.2절)의 실제 근거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00000"/>
            <a:ext cx="4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FC93C"/>
                </a:solidFill>
                <a:latin typeface="맑은 고딕"/>
              </a:rPr>
              <a:t>가격을 올리는 토큰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60000"/>
            <a:ext cx="165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F2F0E8"/>
                </a:solidFill>
                <a:latin typeface="맑은 고딕"/>
              </a:rPr>
              <a:t>desc_14k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00000" y="2370000"/>
            <a:ext cx="8280000" cy="230000"/>
          </a:xfrm>
          <a:prstGeom prst="rect">
            <a:avLst/>
          </a:prstGeom>
          <a:solidFill>
            <a:srgbClr val="16151F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00000" y="2370000"/>
            <a:ext cx="6543870" cy="230000"/>
          </a:xfrm>
          <a:prstGeom prst="rect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33870" y="2355000"/>
            <a:ext cx="7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C93C"/>
                </a:solidFill>
                <a:latin typeface="맑은 고딕"/>
              </a:rPr>
              <a:t>+2.45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20000"/>
            <a:ext cx="165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F2F0E8"/>
                </a:solidFill>
                <a:latin typeface="맑은 고딕"/>
              </a:rPr>
              <a:t>desc_10k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00000" y="2730000"/>
            <a:ext cx="8280000" cy="230000"/>
          </a:xfrm>
          <a:prstGeom prst="rect">
            <a:avLst/>
          </a:prstGeom>
          <a:solidFill>
            <a:srgbClr val="16151F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900000" y="2730000"/>
            <a:ext cx="5101548" cy="230000"/>
          </a:xfrm>
          <a:prstGeom prst="rect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1548" y="2715000"/>
            <a:ext cx="7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C93C"/>
                </a:solidFill>
                <a:latin typeface="맑은 고딕"/>
              </a:rPr>
              <a:t>+1.91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80000"/>
            <a:ext cx="165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F2F0E8"/>
                </a:solidFill>
                <a:latin typeface="맑은 고딕"/>
              </a:rPr>
              <a:t>desc_128gb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00000" y="3090000"/>
            <a:ext cx="8280000" cy="230000"/>
          </a:xfrm>
          <a:prstGeom prst="rect">
            <a:avLst/>
          </a:prstGeom>
          <a:solidFill>
            <a:srgbClr val="16151F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900000" y="3090000"/>
            <a:ext cx="4941290" cy="230000"/>
          </a:xfrm>
          <a:prstGeom prst="rect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31290" y="3075000"/>
            <a:ext cx="7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C93C"/>
                </a:solidFill>
                <a:latin typeface="맑은 고딕"/>
              </a:rPr>
              <a:t>+1.85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40000"/>
            <a:ext cx="165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F2F0E8"/>
                </a:solidFill>
                <a:latin typeface="맑은 고딕"/>
              </a:rPr>
              <a:t>desc_unlocked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00000" y="3450000"/>
            <a:ext cx="8280000" cy="230000"/>
          </a:xfrm>
          <a:prstGeom prst="rect">
            <a:avLst/>
          </a:prstGeom>
          <a:solidFill>
            <a:srgbClr val="16151F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00000" y="3450000"/>
            <a:ext cx="4807741" cy="230000"/>
          </a:xfrm>
          <a:prstGeom prst="rect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97741" y="3435000"/>
            <a:ext cx="7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C93C"/>
                </a:solidFill>
                <a:latin typeface="맑은 고딕"/>
              </a:rPr>
              <a:t>+1.8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800000"/>
            <a:ext cx="165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F2F0E8"/>
                </a:solidFill>
                <a:latin typeface="맑은 고딕"/>
              </a:rPr>
              <a:t>desc_limbs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00000" y="3810000"/>
            <a:ext cx="8280000" cy="230000"/>
          </a:xfrm>
          <a:prstGeom prst="rect">
            <a:avLst/>
          </a:prstGeom>
          <a:solidFill>
            <a:srgbClr val="16151F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900000" y="3810000"/>
            <a:ext cx="4807741" cy="230000"/>
          </a:xfrm>
          <a:prstGeom prst="rect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97741" y="3795000"/>
            <a:ext cx="7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C93C"/>
                </a:solidFill>
                <a:latin typeface="맑은 고딕"/>
              </a:rPr>
              <a:t>+1.8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150000"/>
            <a:ext cx="4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E8384F"/>
                </a:solidFill>
                <a:latin typeface="맑은 고딕"/>
              </a:rPr>
              <a:t>가격을 낮추는 토큰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520000"/>
            <a:ext cx="165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F2F0E8"/>
                </a:solidFill>
                <a:latin typeface="맑은 고딕"/>
              </a:rPr>
              <a:t>product_dust bag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00000" y="4530000"/>
            <a:ext cx="8280000" cy="230000"/>
          </a:xfrm>
          <a:prstGeom prst="rect">
            <a:avLst/>
          </a:prstGeom>
          <a:solidFill>
            <a:srgbClr val="16151F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900000" y="4530000"/>
            <a:ext cx="5528903" cy="230000"/>
          </a:xfrm>
          <a:prstGeom prst="rect">
            <a:avLst/>
          </a:prstGeom>
          <a:solidFill>
            <a:srgbClr val="E83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18903" y="4515000"/>
            <a:ext cx="7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384F"/>
                </a:solidFill>
                <a:latin typeface="맑은 고딕"/>
              </a:rPr>
              <a:t>-2.07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880000"/>
            <a:ext cx="165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F2F0E8"/>
                </a:solidFill>
                <a:latin typeface="맑은 고딕"/>
              </a:rPr>
              <a:t>product_charger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00000" y="4890000"/>
            <a:ext cx="8280000" cy="230000"/>
          </a:xfrm>
          <a:prstGeom prst="rect">
            <a:avLst/>
          </a:prstGeom>
          <a:solidFill>
            <a:srgbClr val="16151F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900000" y="4890000"/>
            <a:ext cx="3846193" cy="230000"/>
          </a:xfrm>
          <a:prstGeom prst="rect">
            <a:avLst/>
          </a:prstGeom>
          <a:solidFill>
            <a:srgbClr val="E83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36193" y="4875000"/>
            <a:ext cx="7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384F"/>
                </a:solidFill>
                <a:latin typeface="맑은 고딕"/>
              </a:rPr>
              <a:t>-1.44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240000"/>
            <a:ext cx="165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F2F0E8"/>
                </a:solidFill>
                <a:latin typeface="맑은 고딕"/>
              </a:rPr>
              <a:t>product_sticker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00000" y="5250000"/>
            <a:ext cx="8280000" cy="230000"/>
          </a:xfrm>
          <a:prstGeom prst="rect">
            <a:avLst/>
          </a:prstGeom>
          <a:solidFill>
            <a:srgbClr val="16151F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900000" y="5250000"/>
            <a:ext cx="3846193" cy="230000"/>
          </a:xfrm>
          <a:prstGeom prst="rect">
            <a:avLst/>
          </a:prstGeom>
          <a:solidFill>
            <a:srgbClr val="E83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36193" y="5235000"/>
            <a:ext cx="7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384F"/>
                </a:solidFill>
                <a:latin typeface="맑은 고딕"/>
              </a:rPr>
              <a:t>-1.44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5600000"/>
            <a:ext cx="165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F2F0E8"/>
                </a:solidFill>
                <a:latin typeface="맑은 고딕"/>
              </a:rPr>
              <a:t>desc_envelope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00000" y="5610000"/>
            <a:ext cx="8280000" cy="230000"/>
          </a:xfrm>
          <a:prstGeom prst="rect">
            <a:avLst/>
          </a:prstGeom>
          <a:solidFill>
            <a:srgbClr val="16151F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900000" y="5610000"/>
            <a:ext cx="3205161" cy="230000"/>
          </a:xfrm>
          <a:prstGeom prst="rect">
            <a:avLst/>
          </a:prstGeom>
          <a:solidFill>
            <a:srgbClr val="E83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95161" y="5595000"/>
            <a:ext cx="7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384F"/>
                </a:solidFill>
                <a:latin typeface="맑은 고딕"/>
              </a:rPr>
              <a:t>-1.2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080000"/>
            <a:ext cx="1109167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D9D6E2"/>
                </a:solidFill>
                <a:latin typeface="맑은 고딕"/>
              </a:rPr>
              <a:t>금 순도(14k/10k)·저장 용량(128gb) 같은 숫자+단위 토큰 vs 저가 액세서리·포장재 토큰 — 회귀계수 크기</a:t>
            </a:r>
          </a:p>
        </p:txBody>
      </p:sp>
      <p:sp>
        <p:nvSpPr>
          <p:cNvPr id="900" name="Rectangle 17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" name="TextBox 18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902" name="Rectangle 19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" name="TextBox 20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904" name="Rectangle 21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" name="TextBox 22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906" name="Rectangle 23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" name="Heart 24"/>
          <p:cNvSpPr/>
          <p:nvPr/>
        </p:nvSpPr>
        <p:spPr>
          <a:xfrm>
            <a:off x="8683599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" name="TextBox 25"/>
          <p:cNvSpPr txBox="1"/>
          <p:nvPr/>
        </p:nvSpPr>
        <p:spPr>
          <a:xfrm>
            <a:off x="89396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D9D6E2"/>
                </a:solidFill>
                <a:latin typeface="맑은 고딕"/>
              </a:rPr>
              <a:t>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계획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전처리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FE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모델선정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</a:t>
            </a:r>
            <a:r>
              <a:rPr sz="1300" b="1">
                <a:solidFill>
                  <a:srgbClr val="FF9142"/>
                </a:solidFill>
                <a:latin typeface="맑은 고딕"/>
              </a:rPr>
              <a:t>●</a:t>
            </a:r>
            <a:r>
              <a:rPr sz="1400" b="1">
                <a:solidFill>
                  <a:srgbClr val="FF9142"/>
                </a:solidFill>
                <a:latin typeface="맑은 고딕"/>
              </a:rPr>
              <a:t> 튜닝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통합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2F0E8"/>
                </a:solidFill>
                <a:latin typeface="맑은 고딕"/>
              </a:rPr>
              <a:t>Ridge alpha 튜닝 — 넓게 훑어도 개선폭은 0.2~2.0%뿐이었다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40000"/>
            <a:ext cx="11091672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2F0E8"/>
                </a:solidFill>
                <a:latin typeface="맑은 고딕"/>
              </a:rPr>
              <a:t>최적 alpha = </a:t>
            </a:r>
            <a:r>
              <a:rPr sz="3000" b="1">
                <a:solidFill>
                  <a:srgbClr val="FFC93C"/>
                </a:solidFill>
                <a:latin typeface="맑은 고딕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00000"/>
            <a:ext cx="9784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D9D6E2"/>
                </a:solidFill>
                <a:latin typeface="맑은 고딕"/>
              </a:rPr>
              <a:t>alpha 스윕 (0.01 ~ 1000, 로그 스케일) — RMSLE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0000" y="4800000"/>
            <a:ext cx="9360000" cy="12700"/>
          </a:xfrm>
          <a:prstGeom prst="rect">
            <a:avLst/>
          </a:prstGeom>
          <a:solidFill>
            <a:srgbClr val="D9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2336000" y="4733961"/>
            <a:ext cx="3744000" cy="66039"/>
          </a:xfrm>
          <a:prstGeom prst="line">
            <a:avLst/>
          </a:prstGeom>
          <a:ln w="19050">
            <a:solidFill>
              <a:srgbClr val="D9D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080000" y="2750000"/>
            <a:ext cx="3744000" cy="2050000"/>
          </a:xfrm>
          <a:prstGeom prst="line">
            <a:avLst/>
          </a:prstGeom>
          <a:ln w="19050">
            <a:solidFill>
              <a:srgbClr val="D9D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266000" y="4663961"/>
            <a:ext cx="200000" cy="200000"/>
          </a:xfrm>
          <a:prstGeom prst="ellipse">
            <a:avLst/>
          </a:prstGeom>
          <a:solidFill>
            <a:srgbClr val="D9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86000" y="4253961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D9D6E2"/>
                </a:solidFill>
                <a:latin typeface="맑은 고딕"/>
              </a:rPr>
              <a:t>0.4726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6000" y="4890000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D9D6E2"/>
                </a:solidFill>
                <a:latin typeface="맑은 고딕"/>
              </a:rPr>
              <a:t>alpha=0.01</a:t>
            </a:r>
          </a:p>
        </p:txBody>
      </p:sp>
      <p:sp>
        <p:nvSpPr>
          <p:cNvPr id="15" name="Oval 14"/>
          <p:cNvSpPr/>
          <p:nvPr/>
        </p:nvSpPr>
        <p:spPr>
          <a:xfrm>
            <a:off x="6010000" y="4730000"/>
            <a:ext cx="200000" cy="200000"/>
          </a:xfrm>
          <a:prstGeom prst="ellipse">
            <a:avLst/>
          </a:prstGeom>
          <a:solidFill>
            <a:srgbClr val="FF9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30000" y="4320000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9142"/>
                </a:solidFill>
                <a:latin typeface="맑은 고딕"/>
              </a:rPr>
              <a:t>0.4707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000" y="4890000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>
                <a:solidFill>
                  <a:srgbClr val="FF9142"/>
                </a:solidFill>
                <a:latin typeface="맑은 고딕"/>
              </a:rPr>
              <a:t>alpha=3 (최적)</a:t>
            </a:r>
          </a:p>
        </p:txBody>
      </p:sp>
      <p:sp>
        <p:nvSpPr>
          <p:cNvPr id="18" name="Oval 17"/>
          <p:cNvSpPr/>
          <p:nvPr/>
        </p:nvSpPr>
        <p:spPr>
          <a:xfrm>
            <a:off x="9754000" y="2680000"/>
            <a:ext cx="200000" cy="200000"/>
          </a:xfrm>
          <a:prstGeom prst="ellipse">
            <a:avLst/>
          </a:prstGeom>
          <a:solidFill>
            <a:srgbClr val="D9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74000" y="2270000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D9D6E2"/>
                </a:solidFill>
                <a:latin typeface="맑은 고딕"/>
              </a:rPr>
              <a:t>0.5293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4000" y="4890000"/>
            <a:ext cx="15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D9D6E2"/>
                </a:solidFill>
                <a:latin typeface="맑은 고딕"/>
              </a:rPr>
              <a:t>alpha=1000</a:t>
            </a:r>
          </a:p>
        </p:txBody>
      </p:sp>
      <p:sp>
        <p:nvSpPr>
          <p:cNvPr id="900" name="Rectangle 17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" name="TextBox 18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902" name="Rectangle 19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" name="TextBox 20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904" name="Rectangle 21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" name="TextBox 22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906" name="Rectangle 23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" name="Heart 24"/>
          <p:cNvSpPr/>
          <p:nvPr/>
        </p:nvSpPr>
        <p:spPr>
          <a:xfrm>
            <a:off x="8683599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" name="TextBox 25"/>
          <p:cNvSpPr txBox="1"/>
          <p:nvPr/>
        </p:nvSpPr>
        <p:spPr>
          <a:xfrm>
            <a:off x="89396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D9D6E2"/>
                </a:solidFill>
                <a:latin typeface="맑은 고딕"/>
              </a:rPr>
              <a:t>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계획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전처리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FE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모델선정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</a:t>
            </a:r>
            <a:r>
              <a:rPr sz="1300" b="1">
                <a:solidFill>
                  <a:srgbClr val="FF9142"/>
                </a:solidFill>
                <a:latin typeface="맑은 고딕"/>
              </a:rPr>
              <a:t>●</a:t>
            </a:r>
            <a:r>
              <a:rPr sz="1400" b="1">
                <a:solidFill>
                  <a:srgbClr val="FF9142"/>
                </a:solidFill>
                <a:latin typeface="맑은 고딕"/>
              </a:rPr>
              <a:t> 튜닝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통합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2F0E8"/>
                </a:solidFill>
                <a:latin typeface="맑은 고딕"/>
              </a:rPr>
              <a:t>LightGBM 튜닝 — 정규화보다 라운드 수 확장이 더 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D9D6E2"/>
                </a:solidFill>
                <a:latin typeface="맑은 고딕"/>
              </a:rPr>
              <a:t>라운드 수·정규화 강도에 따라 편차가 컸다 — 라운드 수를 충분히 확보한 경우만 Ridge를 앞질렀다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50000"/>
            <a:ext cx="97840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2F0E8"/>
                </a:solidFill>
                <a:latin typeface="맑은 고딕"/>
              </a:rPr>
              <a:t>라운드 확장 (1200→2000라운드)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2570000"/>
            <a:ext cx="9784080" cy="320000"/>
          </a:xfrm>
          <a:prstGeom prst="rect">
            <a:avLst/>
          </a:prstGeom>
          <a:solidFill>
            <a:srgbClr val="16151F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88720" y="2570000"/>
            <a:ext cx="8068291" cy="320000"/>
          </a:xfrm>
          <a:prstGeom prst="rect">
            <a:avLst/>
          </a:prstGeom>
          <a:solidFill>
            <a:srgbClr val="D9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67011" y="2555000"/>
            <a:ext cx="100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D9D6E2"/>
                </a:solidFill>
                <a:latin typeface="맑은 고딕"/>
              </a:rPr>
              <a:t>0.4288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2990000"/>
            <a:ext cx="9784080" cy="320000"/>
          </a:xfrm>
          <a:prstGeom prst="rect">
            <a:avLst/>
          </a:prstGeom>
          <a:solidFill>
            <a:srgbClr val="16151F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88720" y="2990000"/>
            <a:ext cx="7975530" cy="320000"/>
          </a:xfrm>
          <a:prstGeom prst="rect">
            <a:avLst/>
          </a:prstGeom>
          <a:solidFill>
            <a:srgbClr val="FF9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74250" y="2975000"/>
            <a:ext cx="100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F9142"/>
                </a:solidFill>
                <a:latin typeface="맑은 고딕"/>
              </a:rPr>
              <a:t>0.4239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650000"/>
            <a:ext cx="97840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2F0E8"/>
                </a:solidFill>
                <a:latin typeface="맑은 고딕"/>
              </a:rPr>
              <a:t>정규화 강화 (3차 튜닝, 4000라운드)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4070000"/>
            <a:ext cx="9784080" cy="320000"/>
          </a:xfrm>
          <a:prstGeom prst="rect">
            <a:avLst/>
          </a:prstGeom>
          <a:solidFill>
            <a:srgbClr val="16151F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88720" y="4070000"/>
            <a:ext cx="8480163" cy="320000"/>
          </a:xfrm>
          <a:prstGeom prst="rect">
            <a:avLst/>
          </a:prstGeom>
          <a:solidFill>
            <a:srgbClr val="D9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78883" y="4055000"/>
            <a:ext cx="100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D9D6E2"/>
                </a:solidFill>
                <a:latin typeface="맑은 고딕"/>
              </a:rPr>
              <a:t>0.4507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4490000"/>
            <a:ext cx="9784080" cy="320000"/>
          </a:xfrm>
          <a:prstGeom prst="rect">
            <a:avLst/>
          </a:prstGeom>
          <a:solidFill>
            <a:srgbClr val="16151F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88720" y="4490000"/>
            <a:ext cx="8073559" cy="320000"/>
          </a:xfrm>
          <a:prstGeom prst="rect">
            <a:avLst/>
          </a:prstGeom>
          <a:solidFill>
            <a:srgbClr val="FF9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72279" y="4475000"/>
            <a:ext cx="100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F9142"/>
                </a:solidFill>
                <a:latin typeface="맑은 고딕"/>
              </a:rPr>
              <a:t>0.4291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750000"/>
            <a:ext cx="11091672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>
                <a:solidFill>
                  <a:srgbClr val="D9D6E2"/>
                </a:solidFill>
                <a:latin typeface="맑은 고딕"/>
              </a:rPr>
              <a:t>라운드 수를 늘리는 쪽이 정규화 미세조정보다 개선폭이 컸다 — LightGBM -1.2%~-4.8% vs Ridge alpha -0.2%~-2.0%</a:t>
            </a:r>
          </a:p>
        </p:txBody>
      </p:sp>
      <p:sp>
        <p:nvSpPr>
          <p:cNvPr id="900" name="Rectangle 17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" name="TextBox 18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902" name="Rectangle 19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" name="TextBox 20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904" name="Rectangle 21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" name="TextBox 22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906" name="Rectangle 23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" name="Heart 24"/>
          <p:cNvSpPr/>
          <p:nvPr/>
        </p:nvSpPr>
        <p:spPr>
          <a:xfrm>
            <a:off x="8683599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" name="TextBox 25"/>
          <p:cNvSpPr txBox="1"/>
          <p:nvPr/>
        </p:nvSpPr>
        <p:spPr>
          <a:xfrm>
            <a:off x="89396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D9D6E2"/>
                </a:solidFill>
                <a:latin typeface="맑은 고딕"/>
              </a:rPr>
              <a:t>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계획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전처리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FE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모델선정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튜닝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</a:t>
            </a:r>
            <a:r>
              <a:rPr sz="1300" b="1">
                <a:solidFill>
                  <a:srgbClr val="FF9142"/>
                </a:solidFill>
                <a:latin typeface="맑은 고딕"/>
              </a:rPr>
              <a:t>●</a:t>
            </a:r>
            <a:r>
              <a:rPr sz="1400" b="1">
                <a:solidFill>
                  <a:srgbClr val="FF9142"/>
                </a:solidFill>
                <a:latin typeface="맑은 고딕"/>
              </a:rPr>
              <a:t> 통합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2F0E8"/>
                </a:solidFill>
                <a:latin typeface="맑은 고딕"/>
              </a:rPr>
              <a:t>블렌드 앙상블 모델</a:t>
            </a:r>
          </a:p>
        </p:txBody>
      </p:sp>
      <p:sp>
        <p:nvSpPr>
          <p:cNvPr id="7" name="Rectangle 6"/>
          <p:cNvSpPr/>
          <p:nvPr/>
        </p:nvSpPr>
        <p:spPr>
          <a:xfrm>
            <a:off x="1916894" y="1855000"/>
            <a:ext cx="2550000" cy="1550000"/>
          </a:xfrm>
          <a:prstGeom prst="rect">
            <a:avLst/>
          </a:prstGeom>
          <a:solidFill>
            <a:srgbClr val="1D1C29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66894" y="2015000"/>
            <a:ext cx="225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맑은 고딕"/>
              </a:rPr>
              <a:t>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66894" y="2505000"/>
            <a:ext cx="225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D9D6E2"/>
                </a:solidFill>
                <a:latin typeface="맑은 고딕"/>
              </a:rPr>
              <a:t>가중치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66894" y="2935000"/>
            <a:ext cx="225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D9D6E2"/>
                </a:solidFill>
                <a:latin typeface="맑은 고딕"/>
              </a:rPr>
              <a:t>원-핫+유니그램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46894" y="1855000"/>
            <a:ext cx="2550000" cy="1550000"/>
          </a:xfrm>
          <a:prstGeom prst="rect">
            <a:avLst/>
          </a:prstGeom>
          <a:solidFill>
            <a:srgbClr val="1D1C29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6894" y="2015000"/>
            <a:ext cx="225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맑은 고딕"/>
              </a:rPr>
              <a:t>LightGBM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6894" y="2505000"/>
            <a:ext cx="225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C93C"/>
                </a:solidFill>
                <a:latin typeface="맑은 고딕"/>
              </a:rPr>
              <a:t>가중치 0.65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6894" y="2935000"/>
            <a:ext cx="225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D9D6E2"/>
                </a:solidFill>
                <a:latin typeface="맑은 고딕"/>
              </a:rPr>
              <a:t>라벨인코딩+n-gram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6894" y="1855000"/>
            <a:ext cx="2550000" cy="1550000"/>
          </a:xfrm>
          <a:prstGeom prst="rect">
            <a:avLst/>
          </a:prstGeom>
          <a:solidFill>
            <a:srgbClr val="1D1C29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26894" y="2015000"/>
            <a:ext cx="225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맑은 고딕"/>
              </a:rPr>
              <a:t>FM_FTRL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894" y="2505000"/>
            <a:ext cx="225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C93C"/>
                </a:solidFill>
                <a:latin typeface="맑은 고딕"/>
              </a:rPr>
              <a:t>가중치 0.35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894" y="2935000"/>
            <a:ext cx="225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D9D6E2"/>
                </a:solidFill>
                <a:latin typeface="맑은 고딕"/>
              </a:rPr>
              <a:t>원-핫+유니그램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44476" y="3534000"/>
            <a:ext cx="300000" cy="300000"/>
          </a:xfrm>
          <a:prstGeom prst="downArrow">
            <a:avLst/>
          </a:prstGeom>
          <a:solidFill>
            <a:srgbClr val="FF9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495847" y="4030000"/>
            <a:ext cx="5200000" cy="1050000"/>
          </a:xfrm>
          <a:prstGeom prst="rect">
            <a:avLst/>
          </a:prstGeom>
          <a:solidFill>
            <a:srgbClr val="1D1C29"/>
          </a:solidFill>
          <a:ln w="95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95847" y="4150000"/>
            <a:ext cx="4800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FC93C"/>
                </a:solidFill>
                <a:latin typeface="맑은 고딕"/>
              </a:rPr>
              <a:t>블렌드 · RMSLE 0.41778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00000"/>
            <a:ext cx="11091672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D9D6E2"/>
                </a:solidFill>
                <a:latin typeface="맑은 고딕"/>
              </a:rPr>
              <a:t>Ridge 가중치가 0으로 수렴 — LightGBM·FM_FTRL이 신호 대부분을 포괄</a:t>
            </a:r>
          </a:p>
        </p:txBody>
      </p:sp>
      <p:sp>
        <p:nvSpPr>
          <p:cNvPr id="900" name="Rectangle 17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" name="TextBox 18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902" name="Rectangle 19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" name="TextBox 20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904" name="Rectangle 21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" name="TextBox 22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906" name="Rectangle 23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" name="Heart 24"/>
          <p:cNvSpPr/>
          <p:nvPr/>
        </p:nvSpPr>
        <p:spPr>
          <a:xfrm>
            <a:off x="8683599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" name="TextBox 25"/>
          <p:cNvSpPr txBox="1"/>
          <p:nvPr/>
        </p:nvSpPr>
        <p:spPr>
          <a:xfrm>
            <a:off x="89396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D9D6E2"/>
                </a:solidFill>
                <a:latin typeface="맑은 고딕"/>
              </a:rPr>
              <a:t>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계획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전처리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FE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모델선정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튜닝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</a:t>
            </a:r>
            <a:r>
              <a:rPr sz="1300" b="1">
                <a:solidFill>
                  <a:srgbClr val="FF9142"/>
                </a:solidFill>
                <a:latin typeface="맑은 고딕"/>
              </a:rPr>
              <a:t>●</a:t>
            </a:r>
            <a:r>
              <a:rPr sz="1400" b="1">
                <a:solidFill>
                  <a:srgbClr val="FF9142"/>
                </a:solidFill>
                <a:latin typeface="맑은 고딕"/>
              </a:rPr>
              <a:t> 통합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2F0E8"/>
                </a:solidFill>
                <a:latin typeface="맑은 고딕"/>
              </a:rPr>
              <a:t>최고 성능 분석 — 무엇이 0.41778을 만들었나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410847" y="1750000"/>
            <a:ext cx="5580000" cy="1750000"/>
          </a:xfrm>
          <a:prstGeom prst="rect">
            <a:avLst/>
          </a:prstGeom>
          <a:solidFill>
            <a:srgbClr val="1D1C29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0847" y="1930000"/>
            <a:ext cx="518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38BDF8"/>
                </a:solidFill>
                <a:latin typeface="맑은 고딕"/>
              </a:rPr>
              <a:t>① 모델별로 분리된 피처 표현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0847" y="2390000"/>
            <a:ext cx="5180000" cy="9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D9D6E2"/>
                </a:solidFill>
                <a:latin typeface="맑은 고딕"/>
              </a:rPr>
              <a:t>하나의 공통 피처셋에 억지로 맞추지 않고, LightGBM은 라벨인코딩+n-gram, Ridge·FM_FTRL은 원-핫+유니그램을 각자 유리한 형태 그대로 사용했다.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0847" y="1750000"/>
            <a:ext cx="5580000" cy="1750000"/>
          </a:xfrm>
          <a:prstGeom prst="rect">
            <a:avLst/>
          </a:prstGeom>
          <a:solidFill>
            <a:srgbClr val="1D1C29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47" y="1930000"/>
            <a:ext cx="518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38BDF8"/>
                </a:solidFill>
                <a:latin typeface="맑은 고딕"/>
              </a:rPr>
              <a:t>② 단일 모델 대비 블렌딩의 실제 개선폭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47" y="2390000"/>
            <a:ext cx="5180000" cy="9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D9D6E2"/>
                </a:solidFill>
                <a:latin typeface="맑은 고딕"/>
              </a:rPr>
              <a:t>튜닝된 LightGBM 단독(0.42388) → 블렌드(0.41778)로 약 1.4%(절대 0.0061) 추가 개선됐다. 이미 잘 튜닝된 모델 뒤에 붙인 블렌딩만 실제 효과가 있었다.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0847" y="3710000"/>
            <a:ext cx="5580000" cy="1750000"/>
          </a:xfrm>
          <a:prstGeom prst="rect">
            <a:avLst/>
          </a:prstGeom>
          <a:solidFill>
            <a:srgbClr val="1D1C29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0847" y="3890000"/>
            <a:ext cx="518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38BDF8"/>
                </a:solidFill>
                <a:latin typeface="맑은 고딕"/>
              </a:rPr>
              <a:t>③ Ridge 가중치가 0으로 수렴한 의미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47" y="4350000"/>
            <a:ext cx="5180000" cy="9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D9D6E2"/>
                </a:solidFill>
                <a:latin typeface="맑은 고딕"/>
              </a:rPr>
              <a:t>튜닝 초반엔 Ridge가 LightGBM보다 우수했지만, LightGBM을 제대로 튜닝한 뒤로는 Ridge가 더 이상 새 정보를 보태지 못했다 — 신호 대부분이 겹친다는 뜻이다.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0847" y="3710000"/>
            <a:ext cx="5580000" cy="1750000"/>
          </a:xfrm>
          <a:prstGeom prst="rect">
            <a:avLst/>
          </a:prstGeom>
          <a:solidFill>
            <a:srgbClr val="1D1C29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47" y="3890000"/>
            <a:ext cx="518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38BDF8"/>
                </a:solidFill>
                <a:latin typeface="맑은 고딕"/>
              </a:rPr>
              <a:t>④ leakage-free 2-stage 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47" y="4350000"/>
            <a:ext cx="5180000" cy="9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D9D6E2"/>
                </a:solidFill>
                <a:latin typeface="맑은 고딕"/>
              </a:rPr>
              <a:t>train→valid로 모든 튜닝을 끝내고, test는 마지막에 단 한 번만 평가했다. '점수에 맞춰 고른 결과'가 아니라는 신뢰성을 보장하는 절차다.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00000"/>
            <a:ext cx="11091672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D9D6E2"/>
                </a:solidFill>
                <a:latin typeface="맑은 고딕"/>
              </a:rPr>
              <a:t>※ ②·③은 블렌드 가중치 배분에서 유추한 해석 — 두 모델의 오차 상관관계를 직접 측정한 기록은 없음</a:t>
            </a:r>
          </a:p>
        </p:txBody>
      </p:sp>
      <p:sp>
        <p:nvSpPr>
          <p:cNvPr id="900" name="Rectangle 17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" name="TextBox 18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902" name="Rectangle 19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" name="TextBox 20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904" name="Rectangle 21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" name="TextBox 22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906" name="Rectangle 23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" name="Heart 24"/>
          <p:cNvSpPr/>
          <p:nvPr/>
        </p:nvSpPr>
        <p:spPr>
          <a:xfrm>
            <a:off x="8683599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" name="TextBox 25"/>
          <p:cNvSpPr txBox="1"/>
          <p:nvPr/>
        </p:nvSpPr>
        <p:spPr>
          <a:xfrm>
            <a:off x="89396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D9D6E2"/>
                </a:solidFill>
                <a:latin typeface="맑은 고딕"/>
              </a:rPr>
              <a:t>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계획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전처리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FE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모델선정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튜닝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통합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</a:t>
            </a:r>
            <a:r>
              <a:rPr sz="1300" b="1">
                <a:solidFill>
                  <a:srgbClr val="FF9142"/>
                </a:solidFill>
                <a:latin typeface="맑은 고딕"/>
              </a:rPr>
              <a:t>●</a:t>
            </a:r>
            <a:r>
              <a:rPr sz="1400" b="1">
                <a:solidFill>
                  <a:srgbClr val="FF9142"/>
                </a:solidFill>
                <a:latin typeface="맑은 고딕"/>
              </a:rPr>
              <a:t>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2F0E8"/>
                </a:solidFill>
                <a:latin typeface="맑은 고딕"/>
              </a:rPr>
              <a:t>최종 블렌드 성능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900000"/>
            <a:ext cx="12191695" cy="1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0" b="1">
                <a:solidFill>
                  <a:srgbClr val="FFC93C"/>
                </a:solidFill>
                <a:latin typeface="맑은 고딕"/>
              </a:rPr>
              <a:t>0.41778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150000"/>
            <a:ext cx="12191695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D9D6E2"/>
                </a:solidFill>
                <a:latin typeface="맑은 고딕"/>
              </a:rPr>
              <a:t>RMSLE — 낮을수록 우수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0000" y="3900000"/>
            <a:ext cx="26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맑은 고딕"/>
              </a:rPr>
              <a:t>LightGBM 베이스라인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00000" y="3910000"/>
            <a:ext cx="3200000" cy="260000"/>
          </a:xfrm>
          <a:prstGeom prst="rect">
            <a:avLst/>
          </a:prstGeom>
          <a:solidFill>
            <a:srgbClr val="16151F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500000" y="3910000"/>
            <a:ext cx="3150080" cy="260000"/>
          </a:xfrm>
          <a:prstGeom prst="rect">
            <a:avLst/>
          </a:prstGeom>
          <a:solidFill>
            <a:srgbClr val="D9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20000" y="3890000"/>
            <a:ext cx="9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맑은 고딕"/>
              </a:rPr>
              <a:t>0.49220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4460000"/>
            <a:ext cx="26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맑은 고딕"/>
              </a:rPr>
              <a:t>블렌드 앙상블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00000" y="4470000"/>
            <a:ext cx="3200000" cy="260000"/>
          </a:xfrm>
          <a:prstGeom prst="rect">
            <a:avLst/>
          </a:prstGeom>
          <a:solidFill>
            <a:srgbClr val="16151F"/>
          </a:solidFill>
          <a:ln w="9525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500000" y="4470000"/>
            <a:ext cx="2673792" cy="260000"/>
          </a:xfrm>
          <a:prstGeom prst="rect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20000" y="4450000"/>
            <a:ext cx="9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C93C"/>
                </a:solidFill>
                <a:latin typeface="맑은 고딕"/>
              </a:rPr>
              <a:t>0.41778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50000"/>
            <a:ext cx="11091672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D9D6E2"/>
                </a:solidFill>
                <a:latin typeface="맑은 고딕"/>
              </a:rPr>
              <a:t>베이스라인 대비 15.1% 개선 (여러 파이프라인 조건이 서로 달라 절대 비교는 아님)</a:t>
            </a:r>
          </a:p>
        </p:txBody>
      </p:sp>
      <p:sp>
        <p:nvSpPr>
          <p:cNvPr id="900" name="Rectangle 17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" name="TextBox 18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902" name="Rectangle 19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" name="TextBox 20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904" name="Rectangle 21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" name="TextBox 22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906" name="Rectangle 23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" name="Heart 24"/>
          <p:cNvSpPr/>
          <p:nvPr/>
        </p:nvSpPr>
        <p:spPr>
          <a:xfrm>
            <a:off x="8683599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" name="TextBox 25"/>
          <p:cNvSpPr txBox="1"/>
          <p:nvPr/>
        </p:nvSpPr>
        <p:spPr>
          <a:xfrm>
            <a:off x="89396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167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D9D6E2"/>
                </a:solidFill>
                <a:latin typeface="맑은 고딕"/>
              </a:rPr>
              <a:t>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계획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전처리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FE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모델선정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튜닝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○</a:t>
            </a:r>
            <a:r>
              <a:rPr sz="1050" b="0">
                <a:solidFill>
                  <a:srgbClr val="D9D6E2"/>
                </a:solidFill>
                <a:latin typeface="맑은 고딕"/>
              </a:rPr>
              <a:t> 통합</a:t>
            </a:r>
            <a:r>
              <a:rPr sz="1000" b="0">
                <a:solidFill>
                  <a:srgbClr val="D9D6E2"/>
                </a:solidFill>
                <a:latin typeface="맑은 고딕"/>
              </a:rPr>
              <a:t>   ·   </a:t>
            </a:r>
            <a:r>
              <a:rPr sz="1300" b="1">
                <a:solidFill>
                  <a:srgbClr val="FF9142"/>
                </a:solidFill>
                <a:latin typeface="맑은 고딕"/>
              </a:rPr>
              <a:t>●</a:t>
            </a:r>
            <a:r>
              <a:rPr sz="1400" b="1">
                <a:solidFill>
                  <a:srgbClr val="FF9142"/>
                </a:solidFill>
                <a:latin typeface="맑은 고딕"/>
              </a:rPr>
              <a:t>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1091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2F0E8"/>
                </a:solidFill>
                <a:latin typeface="맑은 고딕"/>
              </a:rPr>
              <a:t>정답 하나가 아니라, 다시 판단하는 능력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1770000"/>
            <a:ext cx="280000" cy="280000"/>
          </a:xfrm>
          <a:prstGeom prst="ellipse">
            <a:avLst/>
          </a:prstGeom>
          <a:solidFill>
            <a:srgbClr val="FF9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770000"/>
            <a:ext cx="28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0B0B12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0000" y="1750000"/>
            <a:ext cx="935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2F0E8"/>
                </a:solidFill>
                <a:latin typeface="맑은 고딕"/>
              </a:rPr>
              <a:t>고차원 희소 텍스트에서는 Ridge가 강한 베이스라인이다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0000" y="2230000"/>
            <a:ext cx="935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D9D6E2"/>
                </a:solidFill>
                <a:latin typeface="맑은 고딕"/>
              </a:rPr>
              <a:t>튜닝 전 LightGBM보다 우수한 경우가 대다수 — 안정적인 출발점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0" y="3070000"/>
            <a:ext cx="280000" cy="280000"/>
          </a:xfrm>
          <a:prstGeom prst="ellipse">
            <a:avLst/>
          </a:prstGeom>
          <a:solidFill>
            <a:srgbClr val="FF9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3070000"/>
            <a:ext cx="28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0B0B12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0000" y="3050000"/>
            <a:ext cx="935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2F0E8"/>
                </a:solidFill>
                <a:latin typeface="맑은 고딕"/>
              </a:rPr>
              <a:t>LightGBM은 충분한 라운드 수와 정규화가 있어야 Ridge를 앞선다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530000"/>
            <a:ext cx="935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D9D6E2"/>
                </a:solidFill>
                <a:latin typeface="맑은 고딕"/>
              </a:rPr>
              <a:t>라운드 수가 부족하거나 튜닝을 하지 않으면 Ridge보다 낮은 성능에 그쳤다</a:t>
            </a:r>
          </a:p>
        </p:txBody>
      </p:sp>
      <p:sp>
        <p:nvSpPr>
          <p:cNvPr id="15" name="Oval 14"/>
          <p:cNvSpPr/>
          <p:nvPr/>
        </p:nvSpPr>
        <p:spPr>
          <a:xfrm>
            <a:off x="1188720" y="4370000"/>
            <a:ext cx="280000" cy="280000"/>
          </a:xfrm>
          <a:prstGeom prst="ellipse">
            <a:avLst/>
          </a:prstGeom>
          <a:solidFill>
            <a:srgbClr val="FF9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4370000"/>
            <a:ext cx="28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0B0B12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350000"/>
            <a:ext cx="935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2F0E8"/>
                </a:solidFill>
                <a:latin typeface="맑은 고딕"/>
              </a:rPr>
              <a:t>개별 모델을 최대한 튜닝한 뒤의 이종 모델 블렌딩이 추가 개선을 만든다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0000" y="4830000"/>
            <a:ext cx="935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D9D6E2"/>
                </a:solidFill>
                <a:latin typeface="맑은 고딕"/>
              </a:rPr>
              <a:t>반대로 덜 튜닝된 상태의 앙상블은 오히려 역효과를 낼 수 있었다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50000"/>
            <a:ext cx="11091672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C93C"/>
                </a:solidFill>
                <a:latin typeface="맑은 고딕"/>
              </a:rPr>
              <a:t>각자 강한 피처 표현을 그대로 유지한 채 섞을 때, 팀은 최고 성능(RMSLE 0.41778)에 도달했다</a:t>
            </a:r>
          </a:p>
        </p:txBody>
      </p:sp>
      <p:sp>
        <p:nvSpPr>
          <p:cNvPr id="900" name="Rectangle 17"/>
          <p:cNvSpPr/>
          <p:nvPr/>
        </p:nvSpPr>
        <p:spPr>
          <a:xfrm>
            <a:off x="1267815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" name="TextBox 18"/>
          <p:cNvSpPr txBox="1"/>
          <p:nvPr/>
        </p:nvSpPr>
        <p:spPr>
          <a:xfrm>
            <a:off x="13958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1 SANTANDER</a:t>
            </a:r>
          </a:p>
        </p:txBody>
      </p:sp>
      <p:sp>
        <p:nvSpPr>
          <p:cNvPr id="902" name="Rectangle 19"/>
          <p:cNvSpPr/>
          <p:nvPr/>
        </p:nvSpPr>
        <p:spPr>
          <a:xfrm>
            <a:off x="3709263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" name="TextBox 20"/>
          <p:cNvSpPr txBox="1"/>
          <p:nvPr/>
        </p:nvSpPr>
        <p:spPr>
          <a:xfrm>
            <a:off x="3837279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2 CREDIT CARD</a:t>
            </a:r>
          </a:p>
        </p:txBody>
      </p:sp>
      <p:sp>
        <p:nvSpPr>
          <p:cNvPr id="904" name="Rectangle 21"/>
          <p:cNvSpPr/>
          <p:nvPr/>
        </p:nvSpPr>
        <p:spPr>
          <a:xfrm>
            <a:off x="6150711" y="6419088"/>
            <a:ext cx="2331720" cy="329184"/>
          </a:xfrm>
          <a:prstGeom prst="rect">
            <a:avLst/>
          </a:prstGeom>
          <a:solidFill>
            <a:srgbClr val="282734"/>
          </a:solidFill>
          <a:ln w="12700">
            <a:solidFill>
              <a:srgbClr val="D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" name="TextBox 22"/>
          <p:cNvSpPr txBox="1"/>
          <p:nvPr/>
        </p:nvSpPr>
        <p:spPr>
          <a:xfrm>
            <a:off x="6278727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D6E2"/>
                </a:solidFill>
                <a:latin typeface="Consolas"/>
                <a:ea typeface="Consolas"/>
                <a:cs typeface="Consolas"/>
              </a:rPr>
              <a:t>3 OPINOSIS</a:t>
            </a:r>
          </a:p>
        </p:txBody>
      </p:sp>
      <p:sp>
        <p:nvSpPr>
          <p:cNvPr id="906" name="Rectangle 23"/>
          <p:cNvSpPr/>
          <p:nvPr/>
        </p:nvSpPr>
        <p:spPr>
          <a:xfrm>
            <a:off x="8592159" y="6419088"/>
            <a:ext cx="2331720" cy="329184"/>
          </a:xfrm>
          <a:prstGeom prst="rect">
            <a:avLst/>
          </a:prstGeom>
          <a:solidFill>
            <a:srgbClr val="282734"/>
          </a:solidFill>
          <a:ln w="22225">
            <a:solidFill>
              <a:srgbClr val="FF9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" name="Heart 24"/>
          <p:cNvSpPr/>
          <p:nvPr/>
        </p:nvSpPr>
        <p:spPr>
          <a:xfrm>
            <a:off x="8683599" y="6487668"/>
            <a:ext cx="192024" cy="192024"/>
          </a:xfrm>
          <a:prstGeom prst="heart">
            <a:avLst/>
          </a:prstGeom>
          <a:solidFill>
            <a:srgbClr val="E838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" name="TextBox 25"/>
          <p:cNvSpPr txBox="1"/>
          <p:nvPr/>
        </p:nvSpPr>
        <p:spPr>
          <a:xfrm>
            <a:off x="8939631" y="641908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142"/>
                </a:solidFill>
                <a:latin typeface="Consolas"/>
                <a:ea typeface="Consolas"/>
                <a:cs typeface="Consolas"/>
              </a:rPr>
              <a:t>4 MERCARI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후기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DC744-F7E3-594A-AE5F-B436B4765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6DFC37-2641-96F2-1177-783E9A2A627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FB378D-1516-D0B1-9AAB-080033E3FD79}"/>
              </a:ext>
            </a:extLst>
          </p:cNvPr>
          <p:cNvSpPr txBox="1"/>
          <p:nvPr/>
        </p:nvSpPr>
        <p:spPr>
          <a:xfrm>
            <a:off x="0" y="3121223"/>
            <a:ext cx="1219200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4000" b="1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감사합니다</a:t>
            </a:r>
            <a:r>
              <a:rPr lang="en-US" altLang="ko-KR" sz="4000" b="1" dirty="0">
                <a:solidFill>
                  <a:srgbClr val="F2F0E8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4000" b="1" dirty="0">
              <a:solidFill>
                <a:srgbClr val="F2F0E8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925116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5074</Words>
  <Application>Microsoft Office PowerPoint</Application>
  <PresentationFormat>와이드스크린</PresentationFormat>
  <Paragraphs>916</Paragraphs>
  <Slides>53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53</vt:i4>
      </vt:variant>
    </vt:vector>
  </HeadingPairs>
  <TitlesOfParts>
    <vt:vector size="58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admin</cp:lastModifiedBy>
  <cp:revision>18</cp:revision>
  <dcterms:created xsi:type="dcterms:W3CDTF">2013-01-27T09:14:16Z</dcterms:created>
  <dcterms:modified xsi:type="dcterms:W3CDTF">2026-09-06T05:44:31Z</dcterms:modified>
  <cp:category/>
</cp:coreProperties>
</file>