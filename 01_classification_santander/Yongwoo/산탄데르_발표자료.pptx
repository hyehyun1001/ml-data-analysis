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63500" cy="173736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3A868"/>
                </a:solidFill>
                <a:latin typeface="맑은 고딕"/>
              </a:rPr>
              <a:t>산탄데르</a:t>
            </a:r>
            <a:r>
              <a:rPr sz="4600" b="1">
                <a:solidFill>
                  <a:srgbClr val="F3ECE2"/>
                </a:solidFill>
                <a:latin typeface="맑은 고딕"/>
              </a:rPr>
              <a:t> 고객만족예측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46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2B8AE"/>
                </a:solidFill>
                <a:latin typeface="맑은 고딕"/>
              </a:rPr>
              <a:t>Santander Customer Satisfaction — 전처리 전략과 모델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3ECE2"/>
                </a:solidFill>
                <a:latin typeface="맑은 고딕"/>
              </a:rPr>
              <a:t>YWK 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09760" y="6601968"/>
            <a:ext cx="9144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00 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10911535" cy="786384"/>
          </a:xfrm>
          <a:prstGeom prst="roundRect">
            <a:avLst>
              <a:gd name="adj" fmla="val 16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6EE"/>
                </a:solidFill>
                <a:latin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83664"/>
            <a:ext cx="9509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3ECE2"/>
                </a:solidFill>
                <a:latin typeface="맑은 고딕"/>
              </a:rPr>
              <a:t>개요</a:t>
            </a:r>
            <a:r>
              <a:rPr sz="1300">
                <a:solidFill>
                  <a:srgbClr val="C2B8AE"/>
                </a:solidFill>
                <a:latin typeface="맑은 고딕"/>
              </a:rPr>
              <a:t>   프로젝트 배경·목적과 데이터셋 이해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88336"/>
            <a:ext cx="10911535" cy="786384"/>
          </a:xfrm>
          <a:prstGeom prst="roundRect">
            <a:avLst>
              <a:gd name="adj" fmla="val 16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2798064"/>
            <a:ext cx="566928" cy="566928"/>
          </a:xfrm>
          <a:prstGeom prst="ellipse">
            <a:avLst/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6EE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8"/>
            <a:ext cx="9509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3ECE2"/>
                </a:solidFill>
                <a:latin typeface="맑은 고딕"/>
              </a:rPr>
              <a:t>EDA &amp; 전처리</a:t>
            </a:r>
            <a:r>
              <a:rPr sz="1300">
                <a:solidFill>
                  <a:srgbClr val="C2B8AE"/>
                </a:solidFill>
                <a:latin typeface="맑은 고딕"/>
              </a:rPr>
              <a:t>   탐색적 분석, 이상치·파생변수·모델별 차등 전략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10911535" cy="786384"/>
          </a:xfrm>
          <a:prstGeom prst="roundRect">
            <a:avLst>
              <a:gd name="adj" fmla="val 16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3675888"/>
            <a:ext cx="566928" cy="566928"/>
          </a:xfrm>
          <a:prstGeom prst="ellipse">
            <a:avLst/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6EE"/>
                </a:solidFill>
                <a:latin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39312"/>
            <a:ext cx="9509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3ECE2"/>
                </a:solidFill>
                <a:latin typeface="맑은 고딕"/>
              </a:rPr>
              <a:t>분석 방법 &amp; 모델링</a:t>
            </a:r>
            <a:r>
              <a:rPr sz="1300">
                <a:solidFill>
                  <a:srgbClr val="C2B8AE"/>
                </a:solidFill>
                <a:latin typeface="맑은 고딕"/>
              </a:rPr>
              <a:t>   6개 모델, 튜닝 기법, 실행환경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43984"/>
            <a:ext cx="10911535" cy="786384"/>
          </a:xfrm>
          <a:prstGeom prst="roundRect">
            <a:avLst>
              <a:gd name="adj" fmla="val 16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4553712"/>
            <a:ext cx="566928" cy="566928"/>
          </a:xfrm>
          <a:prstGeom prst="ellipse">
            <a:avLst/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6EE"/>
                </a:solidFill>
                <a:latin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17136"/>
            <a:ext cx="9509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3ECE2"/>
                </a:solidFill>
                <a:latin typeface="맑은 고딕"/>
              </a:rPr>
              <a:t>결과</a:t>
            </a:r>
            <a:r>
              <a:rPr sz="1300">
                <a:solidFill>
                  <a:srgbClr val="C2B8AE"/>
                </a:solidFill>
                <a:latin typeface="맑은 고딕"/>
              </a:rPr>
              <a:t>   성능 비교와 핵심 인사이트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21808"/>
            <a:ext cx="10911535" cy="786384"/>
          </a:xfrm>
          <a:prstGeom prst="roundRect">
            <a:avLst>
              <a:gd name="adj" fmla="val 16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7240" y="5431536"/>
            <a:ext cx="566928" cy="566928"/>
          </a:xfrm>
          <a:prstGeom prst="ellipse">
            <a:avLst/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6EE"/>
                </a:solidFill>
                <a:latin typeface="맑은 고딕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394960"/>
            <a:ext cx="9509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800" b="1">
                <a:solidFill>
                  <a:srgbClr val="F3ECE2"/>
                </a:solidFill>
                <a:latin typeface="맑은 고딕"/>
              </a:rPr>
              <a:t>결론 · 회고 · 부록</a:t>
            </a:r>
            <a:r>
              <a:rPr sz="1300">
                <a:solidFill>
                  <a:srgbClr val="C2B8AE"/>
                </a:solidFill>
                <a:latin typeface="맑은 고딕"/>
              </a:rPr>
              <a:t>   종합평가, 참고문헌, 공용 함수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09760" y="6601968"/>
            <a:ext cx="18288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00  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108960" cy="12344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108960" cy="44450"/>
          </a:xfrm>
          <a:prstGeom prst="rect">
            <a:avLst/>
          </a:prstGeom>
          <a:solidFill>
            <a:srgbClr val="9B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75104"/>
            <a:ext cx="3017520" cy="609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9BC49A"/>
                </a:solidFill>
                <a:latin typeface="맑은 고딕"/>
              </a:rPr>
              <a:t>0.8277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02992"/>
            <a:ext cx="2962656" cy="387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팀 최고 기록</a:t>
            </a:r>
          </a:p>
          <a:p>
            <a:pPr algn="ctr"/>
            <a:r>
              <a:rPr sz="1300">
                <a:solidFill>
                  <a:srgbClr val="C2B8AE"/>
                </a:solidFill>
                <a:latin typeface="맑은 고딕"/>
              </a:rPr>
              <a:t>(LightGBM)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828800"/>
            <a:ext cx="7296912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78807" y="21666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39" y="1883664"/>
            <a:ext cx="6656832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배경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불만족 고객을 이탈 이전에 조기 식별해 선제 대응하는 것이 핵심 목표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2724912"/>
            <a:ext cx="7296912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78807" y="306273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39" y="2779776"/>
            <a:ext cx="6656832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목적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팀원별 전처리·모델링 실험을 하나의 파이프라인 관점에서 비교·정리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621024"/>
            <a:ext cx="7296912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78807" y="395884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39" y="3675888"/>
            <a:ext cx="6656832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데이터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익명화된 370여 개 피처로 고객 만족/불만족을 예측하는 이진 분류 문제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10911535" cy="10972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8" y="506984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626864"/>
            <a:ext cx="10271455" cy="987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핵심 결과 요약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부스팅 계열 3종(LightGBM·GBM·XGBoost)이 0.825~0.828 구간에서 동률 최고 성능 — 모델 선택보다 전처리 품질이 성능 상한을 더 크게 좌우함을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6601968"/>
            <a:ext cx="27432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01  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데이터셋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673352" cy="12344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673352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75104"/>
            <a:ext cx="1581912" cy="533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3A868"/>
                </a:solidFill>
                <a:latin typeface="맑은 고딕"/>
              </a:rPr>
              <a:t>76,020건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26792"/>
            <a:ext cx="1527048" cy="463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학습 샘플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1828800"/>
            <a:ext cx="1673352" cy="12344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23160" y="1828800"/>
            <a:ext cx="1673352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1975104"/>
            <a:ext cx="1581912" cy="533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3A868"/>
                </a:solidFill>
                <a:latin typeface="맑은 고딕"/>
              </a:rPr>
              <a:t>369개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2526792"/>
            <a:ext cx="1527048" cy="463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익명화 피처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1673352" cy="12344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06240" y="1828800"/>
            <a:ext cx="1673352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1975104"/>
            <a:ext cx="1581912" cy="533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E3A868"/>
                </a:solidFill>
                <a:latin typeface="맑은 고딕"/>
              </a:rPr>
              <a:t>24 :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2" y="2526792"/>
            <a:ext cx="1527048" cy="4632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클래스 불균형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37560"/>
            <a:ext cx="5394960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" y="357022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392424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Kaggle Santander Customer Satisfaction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32504"/>
            <a:ext cx="5394960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8" y="4265168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087368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TARGET: 만족(0) 96.04% vs 불만족(1) 3.96%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27448"/>
            <a:ext cx="5394960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41248" y="496011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4782312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평가지표: ROC-AUC</a:t>
            </a:r>
          </a:p>
        </p:txBody>
      </p:sp>
      <p:pic>
        <p:nvPicPr>
          <p:cNvPr id="28" name="Picture 27" descr="class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981" y="1828800"/>
            <a:ext cx="5040837" cy="34655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6601968"/>
            <a:ext cx="36576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01  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데이터셋 구조 — 컬럼 특징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5486400" cy="23317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BF6EE"/>
                          </a:solidFill>
                          <a:latin typeface="맑은 고딕"/>
                        </a:rPr>
                        <a:t>접두사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BF6EE"/>
                          </a:solidFill>
                          <a:latin typeface="맑은 고딕"/>
                        </a:rPr>
                        <a:t>개수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>
                          <a:solidFill>
                            <a:srgbClr val="FBF6EE"/>
                          </a:solidFill>
                          <a:latin typeface="맑은 고딕"/>
                        </a:rPr>
                        <a:t>추정 의미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num_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143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거래/상품 보유 건수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ind_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75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특정 상품·조건 보유 지표(0/1)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saldo_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71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계좌·상품별 잔액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imp_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49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거래 금액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delta_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0">
                          <a:solidFill>
                            <a:srgbClr val="F3ECE2"/>
                          </a:solidFill>
                          <a:latin typeface="맑은 고딕"/>
                        </a:rPr>
                        <a:t>1년 vs 3년 등 기간별 변화량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1828800"/>
            <a:ext cx="1636776" cy="12344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828800"/>
            <a:ext cx="1636776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75104"/>
            <a:ext cx="1545336" cy="4952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3A868"/>
                </a:solidFill>
                <a:latin typeface="맑은 고딕"/>
              </a:rPr>
              <a:t>34개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488691"/>
            <a:ext cx="1490472" cy="5013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상수 컬럼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1636776" cy="12344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828800"/>
            <a:ext cx="1636776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975104"/>
            <a:ext cx="1545336" cy="4952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3A868"/>
                </a:solidFill>
                <a:latin typeface="맑은 고딕"/>
              </a:rPr>
              <a:t>29개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88691"/>
            <a:ext cx="1490472" cy="5013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완전 중복 컬럼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828800"/>
            <a:ext cx="1636776" cy="12344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875520" y="1828800"/>
            <a:ext cx="1636776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21240" y="1975104"/>
            <a:ext cx="1545336" cy="4952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E3A868"/>
                </a:solidFill>
                <a:latin typeface="맑은 고딕"/>
              </a:rPr>
              <a:t>76,020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8672" y="2488691"/>
            <a:ext cx="1490472" cy="5013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ID 고유값(단조증가)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43400"/>
            <a:ext cx="10911535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8" y="46812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398264"/>
            <a:ext cx="1027145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상수·중복 컬럼은 정보량이 없거나 다중공선성만 유발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→ 전처리 단계(4장)에서 제거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39512"/>
            <a:ext cx="10911535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8" y="557733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294376"/>
            <a:ext cx="1027145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ID는 실제 서비스 만족도와 무관한 단순 식별자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→ 학습 피처에서 제외, 제출용 인덱스로만 사용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09760" y="6601968"/>
            <a:ext cx="45720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01  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핵심 문제 — 위장된 이상치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06146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83664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결측치는 0건이지만, 사실은 특정 값으로 위장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5394960" cy="84124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288442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569464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var3 = -999999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정상 범위는 대부분 2 근방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5394960" cy="84124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84454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529584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delta_* 26개 컬럼 = 9999999999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정상 범위는 -1 ~ 1.5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394960" cy="84124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480466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489704"/>
            <a:ext cx="4754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var38: 왜도 51.27의 극단적 우측 편향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소수 고액 거래가 분포를 심하게 왜곡</a:t>
            </a:r>
          </a:p>
        </p:txBody>
      </p:sp>
      <p:pic>
        <p:nvPicPr>
          <p:cNvPr id="19" name="Picture 18" descr="problem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32291"/>
            <a:ext cx="5577840" cy="24403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9760" y="6601968"/>
            <a:ext cx="54864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01  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EDA 추가 인사이트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685800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1666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83664"/>
            <a:ext cx="62179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num_meses_var5_ult3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TARGET과 상관계수 -0.1483(최대) — 최근 활동 많을수록 이탈 위험↓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24912"/>
            <a:ext cx="685800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306273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779776"/>
            <a:ext cx="62179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var36 · var15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TARGET과 양의 상관(~0.10) — 특정 연령대·상품 유형에서 불만족↑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21024"/>
            <a:ext cx="685800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95884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675888"/>
            <a:ext cx="621792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개별 변수 상관은 모두 0.15 미만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단일 변수보다 여러 변수 조합(파생변수·PCA)이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828800"/>
            <a:ext cx="3703320" cy="15544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828800"/>
            <a:ext cx="370332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1975104"/>
            <a:ext cx="3611880" cy="609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3A868"/>
                </a:solidFill>
                <a:latin typeface="맑은 고딕"/>
              </a:rPr>
              <a:t>6.32%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2602992"/>
            <a:ext cx="3557016" cy="707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행 단위 중복 비율</a:t>
            </a:r>
          </a:p>
          <a:p>
            <a:pPr algn="ctr"/>
            <a:r>
              <a:rPr sz="1300">
                <a:solidFill>
                  <a:srgbClr val="C2B8AE"/>
                </a:solidFill>
                <a:latin typeface="맑은 고딕"/>
              </a:rPr>
              <a:t>(4,807건, 어느 파이프라인에서도</a:t>
            </a:r>
          </a:p>
          <a:p>
            <a:pPr algn="ctr"/>
            <a:r>
              <a:rPr sz="1300">
                <a:solidFill>
                  <a:srgbClr val="C2B8AE"/>
                </a:solidFill>
                <a:latin typeface="맑은 고딕"/>
              </a:rPr>
              <a:t>명시적으로 제거되진 않음)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2B8AE"/>
                </a:solidFill>
                <a:latin typeface="맑은 고딕"/>
              </a:rPr>
              <a:t>중복행 내 TARGET 분포(95.6:4.4)는 전체 분포(96:4)와 큰 차이 없음 — 클래스 왜곡 정도는 미미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09760" y="6601968"/>
            <a:ext cx="64008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02   EDA &amp;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이상치 처리 &amp; 분포 변환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9496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258059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29383"/>
            <a:ext cx="47548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3ECE2"/>
                </a:solidFill>
                <a:latin typeface="맑은 고딕"/>
              </a:rPr>
              <a:t>var3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2B8AE"/>
                </a:solidFill>
                <a:latin typeface="맑은 고딕"/>
              </a:rPr>
              <a:t>-999999 → 최빈값 2로 치환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9503"/>
            <a:ext cx="539496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3273043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944367"/>
            <a:ext cx="47548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3ECE2"/>
                </a:solidFill>
                <a:latin typeface="맑은 고딕"/>
              </a:rPr>
              <a:t>delta_*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2B8AE"/>
                </a:solidFill>
                <a:latin typeface="맑은 고딕"/>
              </a:rPr>
              <a:t>9999999999 → NaN → 컬럼별 중앙값 대체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04487"/>
            <a:ext cx="539496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4288027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959351"/>
            <a:ext cx="47548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3ECE2"/>
                </a:solidFill>
                <a:latin typeface="맑은 고딕"/>
              </a:rPr>
              <a:t>var38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C2B8AE"/>
                </a:solidFill>
                <a:latin typeface="맑은 고딕"/>
              </a:rPr>
              <a:t>log1p 로그 변환으로 왜도 완화 (51.27 → 정규 분포에 근접)</a:t>
            </a:r>
          </a:p>
        </p:txBody>
      </p:sp>
      <p:pic>
        <p:nvPicPr>
          <p:cNvPr id="16" name="Picture 15" descr="var38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99893"/>
            <a:ext cx="5394960" cy="2247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9760" y="6601968"/>
            <a:ext cx="73152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02   EDA &amp;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파생 변수 &amp; 컬럼 정제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9496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258059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29383"/>
            <a:ext cx="47548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파생 변수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n0 · row_std/mean/median/max/min/range · n_negative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59"/>
            <a:ext cx="539496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3263899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935223"/>
            <a:ext cx="47548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컬럼 정제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상수 34개 + 완전중복 29개 + 수동 노이즈 제거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199"/>
            <a:ext cx="539496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4269739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941063"/>
            <a:ext cx="475488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사후 가지치기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importance=0 피처 제거: 375개 → 111개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74920"/>
            <a:ext cx="5394960" cy="118872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5394960" cy="44450"/>
          </a:xfrm>
          <a:prstGeom prst="rect">
            <a:avLst/>
          </a:prstGeom>
          <a:solidFill>
            <a:srgbClr val="9B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221224"/>
            <a:ext cx="5303520" cy="533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9BC49A"/>
                </a:solidFill>
                <a:latin typeface="맑은 고딕"/>
              </a:rPr>
              <a:t>375 → 111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772912"/>
            <a:ext cx="5248656" cy="417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ROC-AUC 0.8242로 동일 (피처 70%+ 감소)</a:t>
            </a:r>
          </a:p>
        </p:txBody>
      </p:sp>
      <p:pic>
        <p:nvPicPr>
          <p:cNvPr id="20" name="Picture 19" descr="featur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37667"/>
            <a:ext cx="5212080" cy="386282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09760" y="6601968"/>
            <a:ext cx="82296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02   EDA &amp;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모델 특성에 맞춘 차등 전처리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634472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로그 변환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스케일링 / PCA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인코딩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Decision Tree / RF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미적용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미적용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GBM / XGBoost / LightGBM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var38 log1p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Scaler + PCA 5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Logistic Regression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고왜도 전체 signed log1p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StandardScaler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WOE 인코딩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862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E3A868"/>
                </a:solidFill>
                <a:latin typeface="맑은 고딕"/>
              </a:rPr>
              <a:t>“모델 선택보다, 전처리를 얼마나 모델 특성에 맞췄는가가 성능을 좌우한다”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00600"/>
            <a:ext cx="10911535" cy="68580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509270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855464"/>
            <a:ext cx="10271455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트리 계열 — 임계값 비교만 사용 → 단조 변환 무의미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예: 로그 변환을 해도 분기 기준의 순서는 그대로라 성능에 영향이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05272"/>
            <a:ext cx="10911535" cy="68580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41248" y="589737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660136"/>
            <a:ext cx="10271455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선형 계열 — 분포·스케일에 민감 → 왜곡 완화 필수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왜도가 큰 피처를 그대로 쓰면 회귀 계수가 극단값에 휘둘려 결정 경계가 왜곡됨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09760" y="6601968"/>
            <a:ext cx="91440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03   분석 방법 &amp; 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6개 모델 &amp; 튜닝 기법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80160" y="1874519"/>
          <a:ext cx="9601200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BF6EE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>
                          <a:solidFill>
                            <a:srgbClr val="FBF6EE"/>
                          </a:solidFill>
                          <a:latin typeface="맑은 고딕"/>
                        </a:rPr>
                        <a:t>튜닝 기법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Decision Tree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RandomizedSearchCV (5-fold, 100회)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Gradient Boosting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Hyperopt (TPE, 30회)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XGBoost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Hyperopt (TPE, 200회)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LightGBM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RandomizedSearchCV → GridSearchCV (2단계)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Random Forest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RandomizedSearchCV (PredefinedSplit)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Logistic Regression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0">
                          <a:solidFill>
                            <a:srgbClr val="F3ECE2"/>
                          </a:solidFill>
                          <a:latin typeface="맑은 고딕"/>
                        </a:rPr>
                        <a:t>Grid 탐색 + WOE 인코딩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09760" y="6601968"/>
            <a:ext cx="100584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03   분석 방법 &amp; 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GridSearchCV vs Hyperopt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2B8AE"/>
                </a:solidFill>
                <a:latin typeface="맑은 고딕"/>
              </a:rPr>
              <a:t>동일한 LightGBM · 동일한 피처로 두 탐색 방법을 직접 비교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468880"/>
            <a:ext cx="3291840" cy="15544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26080" y="2468880"/>
            <a:ext cx="3291840" cy="44450"/>
          </a:xfrm>
          <a:prstGeom prst="rect">
            <a:avLst/>
          </a:prstGeom>
          <a:solidFill>
            <a:srgbClr val="9B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2615184"/>
            <a:ext cx="3200400" cy="7239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9BC49A"/>
                </a:solidFill>
                <a:latin typeface="맑은 고딕"/>
              </a:rPr>
              <a:t>0.8253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357372"/>
            <a:ext cx="3145536" cy="592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GridSearchCV (2단계, 729조합)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68880"/>
            <a:ext cx="3291840" cy="15544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2468880"/>
            <a:ext cx="329184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615184"/>
            <a:ext cx="3200400" cy="7239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E3A868"/>
                </a:solidFill>
                <a:latin typeface="맑은 고딕"/>
              </a:rPr>
              <a:t>0.8239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357372"/>
            <a:ext cx="3145536" cy="592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Hyperopt (TPE, 100회)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E3A868"/>
                </a:solidFill>
                <a:latin typeface="맑은 고딕"/>
              </a:rPr>
              <a:t>“탐색 알고리즘의 정교함보다,</a:t>
            </a:r>
          </a:p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E3A868"/>
                </a:solidFill>
                <a:latin typeface="맑은 고딕"/>
              </a:rPr>
              <a:t>탐색 범위(space) 설정이 더 중요할 수 있다”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09760" y="6601968"/>
            <a:ext cx="109728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03   분석 방법 &amp; 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실행환경 &amp; 코드 재사용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521208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라이브러리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pandas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9BC49A"/>
                          </a:solidFill>
                          <a:latin typeface="맑은 고딕"/>
                        </a:rPr>
                        <a:t>2.3.3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numpy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9BC49A"/>
                          </a:solidFill>
                          <a:latin typeface="맑은 고딕"/>
                        </a:rPr>
                        <a:t>2.3.5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scikit-learn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9BC49A"/>
                          </a:solidFill>
                          <a:latin typeface="맑은 고딕"/>
                        </a:rPr>
                        <a:t>1.7.2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hyperopt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9BC49A"/>
                          </a:solidFill>
                          <a:latin typeface="맑은 고딕"/>
                        </a:rPr>
                        <a:t>0.3.0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xgboost / lightgbm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팀 공용 환경 설치(버전 미고정)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1828800"/>
            <a:ext cx="5394960" cy="10058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27648" y="22809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883664"/>
            <a:ext cx="47548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정식 함수화는 예상보다 적었음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Hyperopt objective, WOE 인코딩 정도만 def로 존재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71800"/>
            <a:ext cx="5394960" cy="10058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27648" y="34239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3026664"/>
            <a:ext cx="47548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stratify 2단계 분할은 예외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함수화 없이도 전 노트북에서 동일하게 반복 — 암묵적 관행은 잘 지켜짐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C2B8AE"/>
                </a:solidFill>
                <a:latin typeface="맑은 고딕"/>
              </a:rPr>
              <a:t>→ 팀원마다 개별 로컬 환경에서 작업해 환경 고정 파일은 별도 관리되지 않았음 (회고의 개선점)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09760" y="6601968"/>
            <a:ext cx="118872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04  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피처 중요도 — 공통 인사이트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2267712"/>
            <a:ext cx="512064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60553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322576"/>
            <a:ext cx="44805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saldo_var30(잔액)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실측 중요도 1위, 다른 피처 대비 큰 격차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63824"/>
            <a:ext cx="512064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350164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218688"/>
            <a:ext cx="44805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var15(연령)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2위 — 인구통계 정보의 예측력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59936"/>
            <a:ext cx="512064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4397756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44805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ind_var26_cte · ind_var30 등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특정 상품·조건 보유 여부(지표) 계열이 다수 상위권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956048"/>
            <a:ext cx="512064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5293868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010912"/>
            <a:ext cx="44805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saldo_medio_* · var38(자산)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잔액·자산 규모 계열이 폭넓게 상위권 형성</a:t>
            </a:r>
          </a:p>
        </p:txBody>
      </p:sp>
      <p:pic>
        <p:nvPicPr>
          <p:cNvPr id="19" name="Picture 1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694" y="1783080"/>
            <a:ext cx="4807131" cy="4206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9760" y="6601968"/>
            <a:ext cx="128016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04  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모델별 최종 테스트 ROC-AUC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783080"/>
            <a:ext cx="91135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09760" y="6601968"/>
            <a:ext cx="137160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04  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최고 성능 &amp; 튜닝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383280" cy="141732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383280" cy="44450"/>
          </a:xfrm>
          <a:prstGeom prst="rect">
            <a:avLst/>
          </a:prstGeom>
          <a:solidFill>
            <a:srgbClr val="9BC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75104"/>
            <a:ext cx="329184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9BC49A"/>
                </a:solidFill>
                <a:latin typeface="맑은 고딕"/>
              </a:rPr>
              <a:t>0.8277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79192"/>
            <a:ext cx="3236976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2B8AE"/>
                </a:solidFill>
                <a:latin typeface="맑은 고딕"/>
              </a:rPr>
              <a:t>LightGBM 최고 기록</a:t>
            </a:r>
          </a:p>
          <a:p>
            <a:pPr algn="ctr"/>
            <a:r>
              <a:rPr sz="1300">
                <a:solidFill>
                  <a:srgbClr val="C2B8AE"/>
                </a:solidFill>
                <a:latin typeface="맑은 고딕"/>
              </a:rPr>
              <a:t>(0-importance 제거 + PCA 재적용)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694944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44568" y="21666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1883664"/>
            <a:ext cx="63093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Decision Tree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0.5676 → 0.8034  (+0.2358 — 규제가 곧 생존 조건)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743200"/>
            <a:ext cx="6949440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44568" y="30810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798064"/>
            <a:ext cx="630936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XGBoost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0.8240 → 0.8255  (+0.0015 — 이미 강건한 기본값)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3A868"/>
                </a:solidFill>
                <a:latin typeface="맑은 고딕"/>
              </a:rPr>
              <a:t>→ 어떤 모델이 튜닝에 민감한지 먼저 진단하면 탐색 자원을 효율적으로 배분할 수 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6601968"/>
            <a:ext cx="146304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05   결론 · 회고 ·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종합 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평가 기준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>
                          <a:solidFill>
                            <a:srgbClr val="FBF6EE"/>
                          </a:solidFill>
                          <a:latin typeface="맑은 고딕"/>
                        </a:rPr>
                        <a:t>자체 평가</a:t>
                      </a:r>
                    </a:p>
                  </a:txBody>
                  <a:tcPr marT="63500" marB="63500" anchor="ctr">
                    <a:solidFill>
                      <a:srgbClr val="C97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데이터 이해 · EDA 깊이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위장된 결측치·상관관계·중복행까지 확인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전처리 타당성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모든 결정에 실측 근거 제시, 모델별 차등 적용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모델 비교 논리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ROC-AUC로 통일, 6개 모델 동일 기준 비교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최적화 효과 분석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GridSearchCV vs Hyperopt 실측 비교까지 확보</a:t>
                      </a:r>
                    </a:p>
                  </a:txBody>
                  <a:tcPr marT="50800" marB="50800" anchor="ctr">
                    <a:solidFill>
                      <a:srgbClr val="2622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결과 해석 명확성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F3ECE2"/>
                          </a:solidFill>
                          <a:latin typeface="맑은 고딕"/>
                        </a:rPr>
                        <a:t>최고 모델 선정 근거와 결론을 구조적으로 정리</a:t>
                      </a:r>
                    </a:p>
                  </a:txBody>
                  <a:tcPr marT="50800" marB="50800" anchor="ctr">
                    <a:solidFill>
                      <a:srgbClr val="2C2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09760" y="6601968"/>
            <a:ext cx="155448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05   결론 · 회고 ·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07975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83664"/>
            <a:ext cx="10271455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CE2"/>
                </a:solidFill>
                <a:latin typeface="맑은 고딕"/>
              </a:rPr>
              <a:t>부스팅 계열(LightGBM·GBM·XGBoost)이 사실상 동률의 최고 성능 (0.825~0.828)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9464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2820416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624328"/>
            <a:ext cx="10271455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CE2"/>
                </a:solidFill>
                <a:latin typeface="맑은 고딕"/>
              </a:rPr>
              <a:t>모델 선택보다 전처리 설계가 성능 상한을 더 크게 좌우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0128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56108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364992"/>
            <a:ext cx="10271455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CE2"/>
                </a:solidFill>
                <a:latin typeface="맑은 고딕"/>
              </a:rPr>
              <a:t>하이퍼파라미터 최적화 효과는 모델 구조에 따라 크게 다름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50792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430174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105656"/>
            <a:ext cx="10271455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CE2"/>
                </a:solidFill>
                <a:latin typeface="맑은 고딕"/>
              </a:rPr>
              <a:t>로지스틱 회귀는 정규화 강도보다 피처 표현(WOE)이 더 결정적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91456"/>
            <a:ext cx="10911535" cy="603504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" y="5042408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10271455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3ECE2"/>
                </a:solidFill>
                <a:latin typeface="맑은 고딕"/>
              </a:rPr>
              <a:t>실무 제안: LightGBM · GBM · XGBoost를 최종 후보군으로 채택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509760" y="6601968"/>
            <a:ext cx="164592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05   결론 · 회고 ·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팀 회고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9BC49A"/>
                </a:solidFill>
                <a:latin typeface="맑은 고딕"/>
              </a:rPr>
              <a:t>잘된 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12064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8" y="26238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95144"/>
            <a:ext cx="4480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데이터 누수 방지 원칙 준수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fit은 항상 훈련 세트에만 적용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512064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8" y="362966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00984"/>
            <a:ext cx="4480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동일 모델 교차 검증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같은 모델을 여러 명이 독립 실험해 결과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3A868"/>
                </a:solidFill>
                <a:latin typeface="맑은 고딕"/>
              </a:rPr>
              <a:t>아쉬운 점 / 향후 방향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240280"/>
            <a:ext cx="512064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19088" y="26238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295144"/>
            <a:ext cx="4480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공통 함수화 부족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팀 초기 전처리 함수 모듈화 미흡 → 개선 과제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120640" cy="86868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19088" y="362966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3300984"/>
            <a:ext cx="4480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앙상블 여지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2B8AE"/>
                </a:solidFill>
                <a:latin typeface="맑은 고딕"/>
              </a:rPr>
              <a:t>최고 성능 3종(LightGBM·GBM·XGBoost) 결합 검토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09760" y="6601968"/>
            <a:ext cx="173736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05   결론 · 회고 ·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참고문헌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11535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06146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83664"/>
            <a:ext cx="102714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Kaggle, Santander Customer Satisfaction (competition dataset)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05456"/>
            <a:ext cx="10911535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27381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102714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Chen &amp; Guestrin (2016), XGBoost: A Scalable Tree Boosting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82112"/>
            <a:ext cx="10911535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414776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236976"/>
            <a:ext cx="102714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Ke et al. (2017), LightGBM: A Highly Efficient Gradient Boosting Decision Tree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58768"/>
            <a:ext cx="10911535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409143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913632"/>
            <a:ext cx="102714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Bergstra, Yamins &amp; Cox (2013), Hyperopt의 TPE 알고리즘 근거 논문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35424"/>
            <a:ext cx="10911535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41248" y="4768088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590288"/>
            <a:ext cx="102714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Pedregosa et al. (2011), Scikit-learn: Machine Learning in Python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212080"/>
            <a:ext cx="10911535" cy="566928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1248" y="544474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266944"/>
            <a:ext cx="1027145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3ECE2"/>
                </a:solidFill>
                <a:latin typeface="맑은 고딕"/>
              </a:rPr>
              <a:t>scikit-learn 공식 문서 · Hyperopt 공식 문서(GitHub)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09760" y="6601968"/>
            <a:ext cx="182880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384048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C97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BF6EE"/>
                </a:solidFill>
                <a:latin typeface="맑은 고딕"/>
              </a:rPr>
              <a:t>05   결론 · 회고 · 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29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3ECE2"/>
                </a:solidFill>
                <a:latin typeface="맑은 고딕"/>
              </a:rPr>
              <a:t>부록 — 공용 함수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822960" cy="444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11535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166620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83664"/>
            <a:ext cx="1027145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전처리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fix_var3 · fix_delta_outliers · add_row_stats · remove_useless_columns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24912"/>
            <a:ext cx="10911535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8" y="3062732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779776"/>
            <a:ext cx="1027145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분할 / 평가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split_train_val_test · prune_zero_importance · report_auc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21024"/>
            <a:ext cx="10911535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1248" y="3958844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675888"/>
            <a:ext cx="1027145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WOE 인코딩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fit_woe / transform_woe — 로지스틱 회귀 전용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17136"/>
            <a:ext cx="10911535" cy="777240"/>
          </a:xfrm>
          <a:prstGeom prst="roundRect">
            <a:avLst>
              <a:gd name="adj" fmla="val 18000"/>
            </a:avLst>
          </a:prstGeom>
          <a:solidFill>
            <a:srgbClr val="2C2730"/>
          </a:solidFill>
          <a:ln w="9525">
            <a:solidFill>
              <a:srgbClr val="3E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8" y="4854956"/>
            <a:ext cx="101600" cy="101600"/>
          </a:xfrm>
          <a:prstGeom prst="ellipse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10271455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ECE2"/>
                </a:solidFill>
                <a:latin typeface="맑은 고딕"/>
              </a:rPr>
              <a:t>Hyperopt 템플릿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C2B8AE"/>
                </a:solidFill>
                <a:latin typeface="맑은 고딕"/>
              </a:rPr>
              <a:t>make_hyperopt_objective / run_hyperopt — GBM·XGBoost·LightGBM 공용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2B8AE"/>
                </a:solidFill>
                <a:latin typeface="맑은 고딕"/>
              </a:rPr>
              <a:t>전체 코드: 보고서 12장 부록 + santander_통합_최적화.ipynb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9760" y="6601968"/>
            <a:ext cx="192024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697480"/>
            <a:ext cx="63500" cy="13716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6060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3ECE2"/>
                </a:solidFill>
                <a:latin typeface="맑은 고딕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3A868"/>
                </a:solidFill>
                <a:latin typeface="맑은 고딕"/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산탄데르 고객만족예측 · YWK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3E3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09760" y="6601968"/>
            <a:ext cx="2011680" cy="38100"/>
          </a:xfrm>
          <a:prstGeom prst="rect">
            <a:avLst/>
          </a:prstGeom>
          <a:solidFill>
            <a:srgbClr val="E3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28655" y="64556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C2B8AE"/>
                </a:solidFill>
                <a:latin typeface="맑은 고딕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1505</Words>
  <Application>Microsoft Office PowerPoint</Application>
  <PresentationFormat>와이드스크린</PresentationFormat>
  <Paragraphs>296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1</cp:revision>
  <dcterms:created xsi:type="dcterms:W3CDTF">2013-01-27T09:14:16Z</dcterms:created>
  <dcterms:modified xsi:type="dcterms:W3CDTF">2026-09-01T11:10:22Z</dcterms:modified>
  <cp:category/>
</cp:coreProperties>
</file>